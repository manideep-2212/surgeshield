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3474720" cy="329184"/>
          </a:xfrm>
          <a:prstGeom prst="round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100" b="1">
                <a:solidFill>
                  <a:srgbClr val="FFFFFF"/>
                </a:solidFill>
                <a:latin typeface="Segoe UI"/>
              </a:defRPr>
            </a:pPr>
            <a:r>
              <a:t>OFFICIAL P1 HACKATHON SOLUTION</a:t>
            </a:r>
          </a:p>
        </p:txBody>
      </p:sp>
      <p:sp>
        <p:nvSpPr>
          <p:cNvPr id="4" name="TextBox 3"/>
          <p:cNvSpPr txBox="1"/>
          <p:nvPr/>
        </p:nvSpPr>
        <p:spPr>
          <a:xfrm>
            <a:off x="731520" y="1234440"/>
            <a:ext cx="10698480" cy="1371600"/>
          </a:xfrm>
          <a:prstGeom prst="rect">
            <a:avLst/>
          </a:prstGeom>
          <a:noFill/>
        </p:spPr>
        <p:txBody>
          <a:bodyPr wrap="square">
            <a:spAutoFit/>
          </a:bodyPr>
          <a:lstStyle/>
          <a:p>
            <a:pPr algn="l">
              <a:spcAft>
                <a:spcPts val="800"/>
              </a:spcAft>
              <a:defRPr sz="3200" b="1">
                <a:solidFill>
                  <a:srgbClr val="FFFFFF"/>
                </a:solidFill>
                <a:latin typeface="Segoe UI"/>
              </a:defRPr>
            </a:pPr>
            <a:r>
              <a:t>SurgeShield: Resilient, Self-Scaling Web Platform</a:t>
            </a:r>
          </a:p>
          <a:p>
            <a:pPr algn="l">
              <a:spcAft>
                <a:spcPts val="0"/>
              </a:spcAft>
              <a:defRPr sz="1700" b="0">
                <a:solidFill>
                  <a:srgbClr val="CBD5E1"/>
                </a:solidFill>
                <a:latin typeface="Segoe UI"/>
              </a:defRPr>
            </a:pPr>
            <a:r>
              <a:t>Architecting Zero-Downtime, High-Concurrency Event Registration Under Flash-Crowd Surges</a:t>
            </a:r>
          </a:p>
        </p:txBody>
      </p:sp>
      <p:sp>
        <p:nvSpPr>
          <p:cNvPr id="5" name="Rounded Rectangle 4"/>
          <p:cNvSpPr/>
          <p:nvPr/>
        </p:nvSpPr>
        <p:spPr>
          <a:xfrm>
            <a:off x="731520" y="2834640"/>
            <a:ext cx="10725912" cy="7772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880360"/>
            <a:ext cx="10360152" cy="685800"/>
          </a:xfrm>
          <a:prstGeom prst="rect">
            <a:avLst/>
          </a:prstGeom>
          <a:noFill/>
        </p:spPr>
        <p:txBody>
          <a:bodyPr wrap="square">
            <a:spAutoFit/>
          </a:bodyPr>
          <a:lstStyle/>
          <a:p>
            <a:pPr algn="l">
              <a:spcAft>
                <a:spcPts val="400"/>
              </a:spcAft>
              <a:defRPr sz="1000" b="1">
                <a:solidFill>
                  <a:srgbClr val="94A3B8"/>
                </a:solidFill>
                <a:latin typeface="Segoe UI"/>
              </a:defRPr>
            </a:pPr>
            <a:r>
              <a:t>PRESENTATION VISUAL ENCODING &amp; ARCHITECTURAL SEMANTICS:</a:t>
            </a:r>
          </a:p>
        </p:txBody>
      </p:sp>
      <p:sp>
        <p:nvSpPr>
          <p:cNvPr id="7" name="Rounded Rectangle 6"/>
          <p:cNvSpPr/>
          <p:nvPr/>
        </p:nvSpPr>
        <p:spPr>
          <a:xfrm>
            <a:off x="914400" y="3200400"/>
            <a:ext cx="2377440" cy="292608"/>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00" b="1">
                <a:solidFill>
                  <a:srgbClr val="FFFFFF"/>
                </a:solidFill>
                <a:latin typeface="Segoe UI"/>
              </a:defRPr>
            </a:pPr>
            <a:r>
              <a:t>RED = Failure / Risk / Bottleneck</a:t>
            </a:r>
          </a:p>
        </p:txBody>
      </p:sp>
      <p:sp>
        <p:nvSpPr>
          <p:cNvPr id="8" name="Rounded Rectangle 7"/>
          <p:cNvSpPr/>
          <p:nvPr/>
        </p:nvSpPr>
        <p:spPr>
          <a:xfrm>
            <a:off x="3474720" y="3200400"/>
            <a:ext cx="237744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00" b="1">
                <a:solidFill>
                  <a:srgbClr val="FFFFFF"/>
                </a:solidFill>
                <a:latin typeface="Segoe UI"/>
              </a:defRPr>
            </a:pPr>
            <a:r>
              <a:t>BLUE = System / Technology Flow</a:t>
            </a:r>
          </a:p>
        </p:txBody>
      </p:sp>
      <p:sp>
        <p:nvSpPr>
          <p:cNvPr id="9" name="Rounded Rectangle 8"/>
          <p:cNvSpPr/>
          <p:nvPr/>
        </p:nvSpPr>
        <p:spPr>
          <a:xfrm>
            <a:off x="6035040" y="3200400"/>
            <a:ext cx="2377440" cy="292608"/>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00" b="1">
                <a:solidFill>
                  <a:srgbClr val="FFFFFF"/>
                </a:solidFill>
                <a:latin typeface="Segoe UI"/>
              </a:defRPr>
            </a:pPr>
            <a:r>
              <a:t>GREEN = Protected State / Solution</a:t>
            </a:r>
          </a:p>
        </p:txBody>
      </p:sp>
      <p:sp>
        <p:nvSpPr>
          <p:cNvPr id="10" name="Rounded Rectangle 9"/>
          <p:cNvSpPr/>
          <p:nvPr/>
        </p:nvSpPr>
        <p:spPr>
          <a:xfrm>
            <a:off x="8595360" y="3200400"/>
            <a:ext cx="2377440" cy="292608"/>
          </a:xfrm>
          <a:prstGeom prst="round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00" b="1">
                <a:solidFill>
                  <a:srgbClr val="FFFFFF"/>
                </a:solidFill>
                <a:latin typeface="Segoe UI"/>
              </a:defRPr>
            </a:pPr>
            <a:r>
              <a:t>PURPLE = SurgeShield Capabilities</a:t>
            </a:r>
          </a:p>
        </p:txBody>
      </p:sp>
      <p:sp>
        <p:nvSpPr>
          <p:cNvPr id="11" name="Rounded Rectangle 10"/>
          <p:cNvSpPr/>
          <p:nvPr/>
        </p:nvSpPr>
        <p:spPr>
          <a:xfrm>
            <a:off x="731520" y="3840480"/>
            <a:ext cx="2487168" cy="1828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4400" y="4005072"/>
            <a:ext cx="548640" cy="73152"/>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60520"/>
            <a:ext cx="2121408" cy="1417320"/>
          </a:xfrm>
          <a:prstGeom prst="rect">
            <a:avLst/>
          </a:prstGeom>
          <a:noFill/>
        </p:spPr>
        <p:txBody>
          <a:bodyPr wrap="square" lIns="0" rIns="0" tIns="0" bIns="0">
            <a:spAutoFit/>
          </a:bodyPr>
          <a:lstStyle/>
          <a:p>
            <a:pPr algn="l">
              <a:spcAft>
                <a:spcPts val="500"/>
              </a:spcAft>
              <a:defRPr sz="1200" b="1">
                <a:solidFill>
                  <a:srgbClr val="FFFFFF"/>
                </a:solidFill>
                <a:latin typeface="Segoe UI"/>
              </a:defRPr>
            </a:pPr>
            <a:r>
              <a:t>CONCURRENCY CONTROL</a:t>
            </a:r>
          </a:p>
          <a:p>
            <a:pPr algn="l">
              <a:spcAft>
                <a:spcPts val="0"/>
              </a:spcAft>
              <a:defRPr sz="1000" b="0">
                <a:solidFill>
                  <a:srgbClr val="94A3B8"/>
                </a:solidFill>
                <a:latin typeface="Segoe UI"/>
              </a:defRPr>
            </a:pPr>
            <a:r>
              <a:t>PostgreSQL SELECT FOR UPDATE pessimistic row-locking eliminates double-booking across distributed nodes.</a:t>
            </a:r>
          </a:p>
        </p:txBody>
      </p:sp>
      <p:sp>
        <p:nvSpPr>
          <p:cNvPr id="14" name="Rounded Rectangle 13"/>
          <p:cNvSpPr/>
          <p:nvPr/>
        </p:nvSpPr>
        <p:spPr>
          <a:xfrm>
            <a:off x="3456432" y="3840480"/>
            <a:ext cx="2487168" cy="1828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39312" y="4005072"/>
            <a:ext cx="548640" cy="7315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9312" y="4160520"/>
            <a:ext cx="2121408" cy="1417320"/>
          </a:xfrm>
          <a:prstGeom prst="rect">
            <a:avLst/>
          </a:prstGeom>
          <a:noFill/>
        </p:spPr>
        <p:txBody>
          <a:bodyPr wrap="square" lIns="0" rIns="0" tIns="0" bIns="0">
            <a:spAutoFit/>
          </a:bodyPr>
          <a:lstStyle/>
          <a:p>
            <a:pPr algn="l">
              <a:spcAft>
                <a:spcPts val="500"/>
              </a:spcAft>
              <a:defRPr sz="1200" b="1">
                <a:solidFill>
                  <a:srgbClr val="FFFFFF"/>
                </a:solidFill>
                <a:latin typeface="Segoe UI"/>
              </a:defRPr>
            </a:pPr>
            <a:r>
              <a:t>DUAL RATE LIMITING</a:t>
            </a:r>
          </a:p>
          <a:p>
            <a:pPr algn="l">
              <a:spcAft>
                <a:spcPts val="0"/>
              </a:spcAft>
              <a:defRPr sz="1000" b="0">
                <a:solidFill>
                  <a:srgbClr val="94A3B8"/>
                </a:solidFill>
                <a:latin typeface="Segoe UI"/>
              </a:defRPr>
            </a:pPr>
            <a:r>
              <a:t>Edge Nginx burst control (20 r/s) + Express application limiter (300 req/m) prevent server collapse.</a:t>
            </a:r>
          </a:p>
        </p:txBody>
      </p:sp>
      <p:sp>
        <p:nvSpPr>
          <p:cNvPr id="17" name="Rounded Rectangle 16"/>
          <p:cNvSpPr/>
          <p:nvPr/>
        </p:nvSpPr>
        <p:spPr>
          <a:xfrm>
            <a:off x="6181344" y="3840480"/>
            <a:ext cx="2487168" cy="1828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64224" y="4005072"/>
            <a:ext cx="54864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4160520"/>
            <a:ext cx="2121408" cy="1417320"/>
          </a:xfrm>
          <a:prstGeom prst="rect">
            <a:avLst/>
          </a:prstGeom>
          <a:noFill/>
        </p:spPr>
        <p:txBody>
          <a:bodyPr wrap="square" lIns="0" rIns="0" tIns="0" bIns="0">
            <a:spAutoFit/>
          </a:bodyPr>
          <a:lstStyle/>
          <a:p>
            <a:pPr algn="l">
              <a:spcAft>
                <a:spcPts val="500"/>
              </a:spcAft>
              <a:defRPr sz="1200" b="1">
                <a:solidFill>
                  <a:srgbClr val="FFFFFF"/>
                </a:solidFill>
                <a:latin typeface="Segoe UI"/>
              </a:defRPr>
            </a:pPr>
            <a:r>
              <a:t>ASYNC DECOUPLING</a:t>
            </a:r>
          </a:p>
          <a:p>
            <a:pPr algn="l">
              <a:spcAft>
                <a:spcPts val="0"/>
              </a:spcAft>
              <a:defRPr sz="1000" b="0">
                <a:solidFill>
                  <a:srgbClr val="94A3B8"/>
                </a:solidFill>
                <a:latin typeface="Segoe UI"/>
              </a:defRPr>
            </a:pPr>
            <a:r>
              <a:t>BullMQ + Redis 7 + Outbox pattern offloads slow notifications (&lt;15ms API response latency).</a:t>
            </a:r>
          </a:p>
        </p:txBody>
      </p:sp>
      <p:sp>
        <p:nvSpPr>
          <p:cNvPr id="20" name="Rounded Rectangle 19"/>
          <p:cNvSpPr/>
          <p:nvPr/>
        </p:nvSpPr>
        <p:spPr>
          <a:xfrm>
            <a:off x="8906256" y="3840480"/>
            <a:ext cx="2487168" cy="1828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89136" y="4005072"/>
            <a:ext cx="548640" cy="73152"/>
          </a:xfrm>
          <a:prstGeom prst="round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89136" y="4160520"/>
            <a:ext cx="2121408" cy="1417320"/>
          </a:xfrm>
          <a:prstGeom prst="rect">
            <a:avLst/>
          </a:prstGeom>
          <a:noFill/>
        </p:spPr>
        <p:txBody>
          <a:bodyPr wrap="square" lIns="0" rIns="0" tIns="0" bIns="0">
            <a:spAutoFit/>
          </a:bodyPr>
          <a:lstStyle/>
          <a:p>
            <a:pPr algn="l">
              <a:spcAft>
                <a:spcPts val="500"/>
              </a:spcAft>
              <a:defRPr sz="1200" b="1">
                <a:solidFill>
                  <a:srgbClr val="FFFFFF"/>
                </a:solidFill>
                <a:latin typeface="Segoe UI"/>
              </a:defRPr>
            </a:pPr>
            <a:r>
              <a:t>SELF-HEALING CLUSTER</a:t>
            </a:r>
          </a:p>
          <a:p>
            <a:pPr algn="l">
              <a:spcAft>
                <a:spcPts val="0"/>
              </a:spcAft>
              <a:defRPr sz="1000" b="0">
                <a:solidFill>
                  <a:srgbClr val="94A3B8"/>
                </a:solidFill>
                <a:latin typeface="Segoe UI"/>
              </a:defRPr>
            </a:pPr>
            <a:r>
              <a:t>Multi-node Nginx round-robin, automated worker crash recovery, and real-time health detection.</a:t>
            </a:r>
          </a:p>
        </p:txBody>
      </p:sp>
      <p:sp>
        <p:nvSpPr>
          <p:cNvPr id="23" name="TextBox 22"/>
          <p:cNvSpPr txBox="1"/>
          <p:nvPr/>
        </p:nvSpPr>
        <p:spPr>
          <a:xfrm>
            <a:off x="731520" y="5943600"/>
            <a:ext cx="10725912" cy="365760"/>
          </a:xfrm>
          <a:prstGeom prst="rect">
            <a:avLst/>
          </a:prstGeom>
          <a:noFill/>
        </p:spPr>
        <p:txBody>
          <a:bodyPr wrap="none">
            <a:spAutoFit/>
          </a:bodyPr>
          <a:lstStyle/>
          <a:p>
            <a:pPr algn="l">
              <a:spcAft>
                <a:spcPts val="0"/>
              </a:spcAft>
              <a:defRPr sz="1100" b="0">
                <a:solidFill>
                  <a:srgbClr val="94A3B8"/>
                </a:solidFill>
                <a:latin typeface="Segoe UI"/>
              </a:defRPr>
            </a:pPr>
            <a:r>
              <a:t>SurgeShield Engineering Team  |  Target Audience: Mentors, Evaluators &amp; System Architects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000" b="1">
                <a:solidFill>
                  <a:srgbClr val="635BFF"/>
                </a:solidFill>
                <a:latin typeface="Segoe UI"/>
              </a:defRPr>
            </a:pPr>
            <a:r>
              <a:t>RELATABLE REAL-WORLD SCENARIO</a:t>
            </a:r>
          </a:p>
        </p:txBody>
      </p:sp>
      <p:sp>
        <p:nvSpPr>
          <p:cNvPr id="4" name="TextBox 3"/>
          <p:cNvSpPr txBox="1"/>
          <p:nvPr/>
        </p:nvSpPr>
        <p:spPr>
          <a:xfrm>
            <a:off x="731520" y="658368"/>
            <a:ext cx="9601200" cy="594360"/>
          </a:xfrm>
          <a:prstGeom prst="rect">
            <a:avLst/>
          </a:prstGeom>
          <a:noFill/>
        </p:spPr>
        <p:txBody>
          <a:bodyPr wrap="square" lIns="0" rIns="0" tIns="0" bIns="0">
            <a:spAutoFit/>
          </a:bodyPr>
          <a:lstStyle/>
          <a:p>
            <a:pPr>
              <a:defRPr sz="2100" b="1">
                <a:solidFill>
                  <a:srgbClr val="0F172A"/>
                </a:solidFill>
                <a:latin typeface="Segoe UI"/>
              </a:defRPr>
            </a:pPr>
            <a:r>
              <a:t>The Booking Dilemma: Resource + Time + Multiple Users</a:t>
            </a:r>
          </a:p>
        </p:txBody>
      </p:sp>
      <p:sp>
        <p:nvSpPr>
          <p:cNvPr id="5" name="TextBox 4"/>
          <p:cNvSpPr txBox="1"/>
          <p:nvPr/>
        </p:nvSpPr>
        <p:spPr>
          <a:xfrm>
            <a:off x="10515600" y="502920"/>
            <a:ext cx="914400" cy="365760"/>
          </a:xfrm>
          <a:prstGeom prst="rect">
            <a:avLst/>
          </a:prstGeom>
          <a:noFill/>
        </p:spPr>
        <p:txBody>
          <a:bodyPr wrap="square" lIns="0" rIns="0" tIns="0" bIns="0">
            <a:spAutoFit/>
          </a:bodyPr>
          <a:lstStyle/>
          <a:p>
            <a:pPr algn="r">
              <a:defRPr sz="1200" b="1">
                <a:solidFill>
                  <a:srgbClr val="64748B"/>
                </a:solidFill>
                <a:latin typeface="Segoe UI"/>
              </a:defRPr>
            </a:pPr>
            <a:r>
              <a:t>02 / 20</a:t>
            </a:r>
          </a:p>
        </p:txBody>
      </p:sp>
      <p:sp>
        <p:nvSpPr>
          <p:cNvPr id="6" name="Rounded Rectangle 5"/>
          <p:cNvSpPr/>
          <p:nvPr/>
        </p:nvSpPr>
        <p:spPr>
          <a:xfrm>
            <a:off x="731520" y="1280160"/>
            <a:ext cx="10725912" cy="9144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53312"/>
            <a:ext cx="10360152" cy="777240"/>
          </a:xfrm>
          <a:prstGeom prst="rect">
            <a:avLst/>
          </a:prstGeom>
          <a:noFill/>
        </p:spPr>
        <p:txBody>
          <a:bodyPr wrap="square">
            <a:spAutoFit/>
          </a:bodyPr>
          <a:lstStyle/>
          <a:p>
            <a:pPr algn="l">
              <a:spcAft>
                <a:spcPts val="300"/>
              </a:spcAft>
              <a:defRPr sz="1300" b="1">
                <a:solidFill>
                  <a:srgbClr val="2563EB"/>
                </a:solidFill>
                <a:latin typeface="Segoe UI"/>
              </a:defRPr>
            </a:pPr>
            <a:r>
              <a:t>Imagine Booking a Popular Train, Bus, or Movie Ticket Online:</a:t>
            </a:r>
          </a:p>
          <a:p>
            <a:pPr algn="l">
              <a:spcAft>
                <a:spcPts val="0"/>
              </a:spcAft>
              <a:defRPr sz="1100" b="0">
                <a:solidFill>
                  <a:srgbClr val="0F172A"/>
                </a:solidFill>
                <a:latin typeface="Segoe UI"/>
              </a:defRPr>
            </a:pPr>
            <a:r>
              <a:t>You find the perfect journey. Only a few seats remain. You select a seat and proceed toward payment. The system temporarily reserves the seat for you. But what happens if you don't complete the payment? After the hold period expires, the seat must safely release so another passenger can book it.</a:t>
            </a:r>
          </a:p>
        </p:txBody>
      </p:sp>
      <p:sp>
        <p:nvSpPr>
          <p:cNvPr id="8" name="Rounded Rectangle 7"/>
          <p:cNvSpPr/>
          <p:nvPr/>
        </p:nvSpPr>
        <p:spPr>
          <a:xfrm>
            <a:off x="731520" y="2423160"/>
            <a:ext cx="2514600" cy="22860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2560320"/>
            <a:ext cx="224028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100" b="1">
                <a:solidFill>
                  <a:srgbClr val="FFFFFF"/>
                </a:solidFill>
                <a:latin typeface="Segoe UI"/>
              </a:defRPr>
            </a:pPr>
            <a:r>
              <a:t>1. SELECT SEAT</a:t>
            </a:r>
          </a:p>
        </p:txBody>
      </p:sp>
      <p:sp>
        <p:nvSpPr>
          <p:cNvPr id="10" name="TextBox 9"/>
          <p:cNvSpPr txBox="1"/>
          <p:nvPr/>
        </p:nvSpPr>
        <p:spPr>
          <a:xfrm>
            <a:off x="914400" y="3017520"/>
            <a:ext cx="2148840" cy="1554480"/>
          </a:xfrm>
          <a:prstGeom prst="rect">
            <a:avLst/>
          </a:prstGeom>
          <a:noFill/>
        </p:spPr>
        <p:txBody>
          <a:bodyPr wrap="square">
            <a:spAutoFit/>
          </a:bodyPr>
          <a:lstStyle/>
          <a:p>
            <a:pPr algn="l">
              <a:spcAft>
                <a:spcPts val="0"/>
              </a:spcAft>
              <a:defRPr sz="1100" b="0">
                <a:solidFill>
                  <a:srgbClr val="334155"/>
                </a:solidFill>
                <a:latin typeface="Segoe UI"/>
              </a:defRPr>
            </a:pPr>
            <a:r>
              <a:t>User discovers the last remaining seat and clicks 'Book'.</a:t>
            </a:r>
          </a:p>
        </p:txBody>
      </p:sp>
      <p:sp>
        <p:nvSpPr>
          <p:cNvPr id="11" name="Rounded Rectangle 10"/>
          <p:cNvSpPr/>
          <p:nvPr/>
        </p:nvSpPr>
        <p:spPr>
          <a:xfrm>
            <a:off x="3465576" y="2423160"/>
            <a:ext cx="2514600" cy="2286000"/>
          </a:xfrm>
          <a:prstGeom prst="roundRect">
            <a:avLst/>
          </a:prstGeom>
          <a:solidFill>
            <a:srgbClr val="F5F3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02736" y="2560320"/>
            <a:ext cx="2240280" cy="320040"/>
          </a:xfrm>
          <a:prstGeom prst="round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100" b="1">
                <a:solidFill>
                  <a:srgbClr val="FFFFFF"/>
                </a:solidFill>
                <a:latin typeface="Segoe UI"/>
              </a:defRPr>
            </a:pPr>
            <a:r>
              <a:t>2. TEMPORARY HOLD</a:t>
            </a:r>
          </a:p>
        </p:txBody>
      </p:sp>
      <p:sp>
        <p:nvSpPr>
          <p:cNvPr id="13" name="TextBox 12"/>
          <p:cNvSpPr txBox="1"/>
          <p:nvPr/>
        </p:nvSpPr>
        <p:spPr>
          <a:xfrm>
            <a:off x="3648456" y="3017520"/>
            <a:ext cx="2148840" cy="1554480"/>
          </a:xfrm>
          <a:prstGeom prst="rect">
            <a:avLst/>
          </a:prstGeom>
          <a:noFill/>
        </p:spPr>
        <p:txBody>
          <a:bodyPr wrap="square">
            <a:spAutoFit/>
          </a:bodyPr>
          <a:lstStyle/>
          <a:p>
            <a:pPr algn="l">
              <a:spcAft>
                <a:spcPts val="0"/>
              </a:spcAft>
              <a:defRPr sz="1100" b="0">
                <a:solidFill>
                  <a:srgbClr val="334155"/>
                </a:solidFill>
                <a:latin typeface="Segoe UI"/>
              </a:defRPr>
            </a:pPr>
            <a:r>
              <a:t>System locks the seat for 10 minutes to allow payment entry.</a:t>
            </a:r>
          </a:p>
        </p:txBody>
      </p:sp>
      <p:sp>
        <p:nvSpPr>
          <p:cNvPr id="14" name="Rounded Rectangle 13"/>
          <p:cNvSpPr/>
          <p:nvPr/>
        </p:nvSpPr>
        <p:spPr>
          <a:xfrm>
            <a:off x="6199632" y="2423160"/>
            <a:ext cx="2514600" cy="228600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36792" y="2560320"/>
            <a:ext cx="2240280" cy="32004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100" b="1">
                <a:solidFill>
                  <a:srgbClr val="FFFFFF"/>
                </a:solidFill>
                <a:latin typeface="Segoe UI"/>
              </a:defRPr>
            </a:pPr>
            <a:r>
              <a:t>3. PAYMENT DROPS</a:t>
            </a:r>
          </a:p>
        </p:txBody>
      </p:sp>
      <p:sp>
        <p:nvSpPr>
          <p:cNvPr id="16" name="TextBox 15"/>
          <p:cNvSpPr txBox="1"/>
          <p:nvPr/>
        </p:nvSpPr>
        <p:spPr>
          <a:xfrm>
            <a:off x="6382512" y="3017520"/>
            <a:ext cx="2148840" cy="1554480"/>
          </a:xfrm>
          <a:prstGeom prst="rect">
            <a:avLst/>
          </a:prstGeom>
          <a:noFill/>
        </p:spPr>
        <p:txBody>
          <a:bodyPr wrap="square">
            <a:spAutoFit/>
          </a:bodyPr>
          <a:lstStyle/>
          <a:p>
            <a:pPr algn="l">
              <a:spcAft>
                <a:spcPts val="0"/>
              </a:spcAft>
              <a:defRPr sz="1100" b="0">
                <a:solidFill>
                  <a:srgbClr val="334155"/>
                </a:solidFill>
                <a:latin typeface="Segoe UI"/>
              </a:defRPr>
            </a:pPr>
            <a:r>
              <a:t>User abandons session or mobile connection stutters.</a:t>
            </a:r>
          </a:p>
        </p:txBody>
      </p:sp>
      <p:sp>
        <p:nvSpPr>
          <p:cNvPr id="17" name="Rounded Rectangle 16"/>
          <p:cNvSpPr/>
          <p:nvPr/>
        </p:nvSpPr>
        <p:spPr>
          <a:xfrm>
            <a:off x="8933688" y="2423160"/>
            <a:ext cx="2514600" cy="228600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070848" y="2560320"/>
            <a:ext cx="2240280" cy="32004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100" b="1">
                <a:solidFill>
                  <a:srgbClr val="FFFFFF"/>
                </a:solidFill>
                <a:latin typeface="Segoe UI"/>
              </a:defRPr>
            </a:pPr>
            <a:r>
              <a:t>4. SEAT RELEASED</a:t>
            </a:r>
          </a:p>
        </p:txBody>
      </p:sp>
      <p:sp>
        <p:nvSpPr>
          <p:cNvPr id="19" name="TextBox 18"/>
          <p:cNvSpPr txBox="1"/>
          <p:nvPr/>
        </p:nvSpPr>
        <p:spPr>
          <a:xfrm>
            <a:off x="9116568" y="3017520"/>
            <a:ext cx="2148840" cy="1554480"/>
          </a:xfrm>
          <a:prstGeom prst="rect">
            <a:avLst/>
          </a:prstGeom>
          <a:noFill/>
        </p:spPr>
        <p:txBody>
          <a:bodyPr wrap="square">
            <a:spAutoFit/>
          </a:bodyPr>
          <a:lstStyle/>
          <a:p>
            <a:pPr algn="l">
              <a:spcAft>
                <a:spcPts val="0"/>
              </a:spcAft>
              <a:defRPr sz="1100" b="0">
                <a:solidFill>
                  <a:srgbClr val="334155"/>
                </a:solidFill>
                <a:latin typeface="Segoe UI"/>
              </a:defRPr>
            </a:pPr>
            <a:r>
              <a:t>Hold timer expires; seat returns to pool for other buyers.</a:t>
            </a:r>
          </a:p>
        </p:txBody>
      </p:sp>
      <p:sp>
        <p:nvSpPr>
          <p:cNvPr id="20" name="Rounded Rectangle 19"/>
          <p:cNvSpPr/>
          <p:nvPr/>
        </p:nvSpPr>
        <p:spPr>
          <a:xfrm>
            <a:off x="731520" y="4937760"/>
            <a:ext cx="10725912" cy="1188720"/>
          </a:xfrm>
          <a:prstGeom prst="roundRect">
            <a:avLst/>
          </a:prstGeom>
          <a:solidFill>
            <a:srgbClr val="F5F3FF"/>
          </a:solidFill>
          <a:ln w="12700">
            <a:solidFill>
              <a:srgbClr val="63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029200"/>
            <a:ext cx="10360152" cy="1005840"/>
          </a:xfrm>
          <a:prstGeom prst="rect">
            <a:avLst/>
          </a:prstGeom>
          <a:noFill/>
        </p:spPr>
        <p:txBody>
          <a:bodyPr wrap="square">
            <a:spAutoFit/>
          </a:bodyPr>
          <a:lstStyle/>
          <a:p>
            <a:pPr algn="l">
              <a:spcAft>
                <a:spcPts val="300"/>
              </a:spcAft>
              <a:defRPr sz="1300" b="1">
                <a:solidFill>
                  <a:srgbClr val="635BFF"/>
                </a:solidFill>
                <a:latin typeface="Segoe UI"/>
              </a:defRPr>
            </a:pPr>
            <a:r>
              <a:t>The Core Distributed Systems Principle:</a:t>
            </a:r>
          </a:p>
          <a:p>
            <a:pPr algn="l">
              <a:spcAft>
                <a:spcPts val="0"/>
              </a:spcAft>
              <a:defRPr sz="1200" b="0">
                <a:solidFill>
                  <a:srgbClr val="0F172A"/>
                </a:solidFill>
                <a:latin typeface="Segoe UI"/>
              </a:defRPr>
            </a:pPr>
            <a:r>
              <a:t>Managing RESOURCE + TIME + MULTIPLE USERS is challenging for a single ticket. Now transition to our problem: Imagine thousands of users trying to register for a high-demand event at the exact same millisecond. That is where systems break, and that is why we built SurgeShield.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000" b="1">
                <a:solidFill>
                  <a:srgbClr val="635BFF"/>
                </a:solidFill>
                <a:latin typeface="Segoe UI"/>
              </a:defRPr>
            </a:pPr>
            <a:r>
              <a:t>OFFICIAL P1 PROBLEM STATEMENT</a:t>
            </a:r>
          </a:p>
        </p:txBody>
      </p:sp>
      <p:sp>
        <p:nvSpPr>
          <p:cNvPr id="4" name="TextBox 3"/>
          <p:cNvSpPr txBox="1"/>
          <p:nvPr/>
        </p:nvSpPr>
        <p:spPr>
          <a:xfrm>
            <a:off x="731520" y="658368"/>
            <a:ext cx="9601200" cy="594360"/>
          </a:xfrm>
          <a:prstGeom prst="rect">
            <a:avLst/>
          </a:prstGeom>
          <a:noFill/>
        </p:spPr>
        <p:txBody>
          <a:bodyPr wrap="square" lIns="0" rIns="0" tIns="0" bIns="0">
            <a:spAutoFit/>
          </a:bodyPr>
          <a:lstStyle/>
          <a:p>
            <a:pPr>
              <a:defRPr sz="2100" b="1">
                <a:solidFill>
                  <a:srgbClr val="0F172A"/>
                </a:solidFill>
                <a:latin typeface="Segoe UI"/>
              </a:defRPr>
            </a:pPr>
            <a:r>
              <a:t>From Normal Traffic to Sudden Avalanche: The Surge Problem</a:t>
            </a:r>
          </a:p>
        </p:txBody>
      </p:sp>
      <p:sp>
        <p:nvSpPr>
          <p:cNvPr id="5" name="TextBox 4"/>
          <p:cNvSpPr txBox="1"/>
          <p:nvPr/>
        </p:nvSpPr>
        <p:spPr>
          <a:xfrm>
            <a:off x="10515600" y="502920"/>
            <a:ext cx="914400" cy="365760"/>
          </a:xfrm>
          <a:prstGeom prst="rect">
            <a:avLst/>
          </a:prstGeom>
          <a:noFill/>
        </p:spPr>
        <p:txBody>
          <a:bodyPr wrap="square" lIns="0" rIns="0" tIns="0" bIns="0">
            <a:spAutoFit/>
          </a:bodyPr>
          <a:lstStyle/>
          <a:p>
            <a:pPr algn="r">
              <a:defRPr sz="1200" b="1">
                <a:solidFill>
                  <a:srgbClr val="64748B"/>
                </a:solidFill>
                <a:latin typeface="Segoe UI"/>
              </a:defRPr>
            </a:pPr>
            <a:r>
              <a:t>03 / 20</a:t>
            </a:r>
          </a:p>
        </p:txBody>
      </p:sp>
      <p:sp>
        <p:nvSpPr>
          <p:cNvPr id="6" name="Rounded Rectangle 5"/>
          <p:cNvSpPr/>
          <p:nvPr/>
        </p:nvSpPr>
        <p:spPr>
          <a:xfrm>
            <a:off x="731520" y="1280160"/>
            <a:ext cx="5166360" cy="338328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63040"/>
            <a:ext cx="4709160" cy="3017520"/>
          </a:xfrm>
          <a:prstGeom prst="rect">
            <a:avLst/>
          </a:prstGeom>
          <a:noFill/>
        </p:spPr>
        <p:txBody>
          <a:bodyPr wrap="square">
            <a:spAutoFit/>
          </a:bodyPr>
          <a:lstStyle/>
          <a:p>
            <a:pPr algn="l">
              <a:spcAft>
                <a:spcPts val="800"/>
              </a:spcAft>
              <a:defRPr sz="1500" b="1">
                <a:solidFill>
                  <a:srgbClr val="2563EB"/>
                </a:solidFill>
                <a:latin typeface="Segoe UI"/>
              </a:defRPr>
            </a:pPr>
            <a:r>
              <a:t>NORMAL TRAFFIC BASELINE</a:t>
            </a:r>
          </a:p>
          <a:p>
            <a:pPr algn="l">
              <a:spcAft>
                <a:spcPts val="100"/>
              </a:spcAft>
              <a:defRPr sz="1100" b="1">
                <a:solidFill>
                  <a:srgbClr val="2563EB"/>
                </a:solidFill>
                <a:latin typeface="Segoe UI"/>
              </a:defRPr>
            </a:pPr>
            <a:r>
              <a:t>• Predictable Traffic Load:</a:t>
            </a:r>
          </a:p>
          <a:p>
            <a:pPr algn="l">
              <a:spcAft>
                <a:spcPts val="500"/>
              </a:spcAft>
              <a:defRPr sz="1000" b="0">
                <a:solidFill>
                  <a:srgbClr val="334155"/>
                </a:solidFill>
                <a:latin typeface="Segoe UI"/>
              </a:defRPr>
            </a:pPr>
            <a:r>
              <a:t>   Approximately 100 concurrent users browsing events at leisurely intervals.</a:t>
            </a:r>
          </a:p>
          <a:p>
            <a:pPr algn="l">
              <a:spcAft>
                <a:spcPts val="100"/>
              </a:spcAft>
              <a:defRPr sz="1100" b="1">
                <a:solidFill>
                  <a:srgbClr val="2563EB"/>
                </a:solidFill>
                <a:latin typeface="Segoe UI"/>
              </a:defRPr>
            </a:pPr>
            <a:r>
              <a:t>• Normal Server Utilization:</a:t>
            </a:r>
          </a:p>
          <a:p>
            <a:pPr algn="l">
              <a:spcAft>
                <a:spcPts val="500"/>
              </a:spcAft>
              <a:defRPr sz="1000" b="0">
                <a:solidFill>
                  <a:srgbClr val="334155"/>
                </a:solidFill>
                <a:latin typeface="Segoe UI"/>
              </a:defRPr>
            </a:pPr>
            <a:r>
              <a:t>   Single application node comfortably runs at 10-15% CPU and memory.</a:t>
            </a:r>
          </a:p>
          <a:p>
            <a:pPr algn="l">
              <a:spcAft>
                <a:spcPts val="100"/>
              </a:spcAft>
              <a:defRPr sz="1100" b="1">
                <a:solidFill>
                  <a:srgbClr val="2563EB"/>
                </a:solidFill>
                <a:latin typeface="Segoe UI"/>
              </a:defRPr>
            </a:pPr>
            <a:r>
              <a:t>• Fast Response Latency:</a:t>
            </a:r>
          </a:p>
          <a:p>
            <a:pPr algn="l">
              <a:spcAft>
                <a:spcPts val="500"/>
              </a:spcAft>
              <a:defRPr sz="1000" b="0">
                <a:solidFill>
                  <a:srgbClr val="334155"/>
                </a:solidFill>
                <a:latin typeface="Segoe UI"/>
              </a:defRPr>
            </a:pPr>
            <a:r>
              <a:t>   API responds in &lt; 25ms; database connection pool operates well below limits.</a:t>
            </a:r>
          </a:p>
          <a:p>
            <a:pPr algn="l">
              <a:spcAft>
                <a:spcPts val="100"/>
              </a:spcAft>
              <a:defRPr sz="1100" b="1">
                <a:solidFill>
                  <a:srgbClr val="2563EB"/>
                </a:solidFill>
                <a:latin typeface="Segoe UI"/>
              </a:defRPr>
            </a:pPr>
            <a:r>
              <a:t>• The Illusion of Stability:</a:t>
            </a:r>
          </a:p>
          <a:p>
            <a:pPr algn="l">
              <a:spcAft>
                <a:spcPts val="500"/>
              </a:spcAft>
              <a:defRPr sz="1000" b="0">
                <a:solidFill>
                  <a:srgbClr val="334155"/>
                </a:solidFill>
                <a:latin typeface="Segoe UI"/>
              </a:defRPr>
            </a:pPr>
            <a:r>
              <a:t>   "Everything works fine during normal traffic, but the real challenge begins when traffic suddenly spikes."</a:t>
            </a:r>
          </a:p>
        </p:txBody>
      </p:sp>
      <p:sp>
        <p:nvSpPr>
          <p:cNvPr id="8" name="Rounded Rectangle 7"/>
          <p:cNvSpPr/>
          <p:nvPr/>
        </p:nvSpPr>
        <p:spPr>
          <a:xfrm>
            <a:off x="6291072" y="1280160"/>
            <a:ext cx="5166360" cy="338328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463040"/>
            <a:ext cx="4709160" cy="3017520"/>
          </a:xfrm>
          <a:prstGeom prst="rect">
            <a:avLst/>
          </a:prstGeom>
          <a:noFill/>
        </p:spPr>
        <p:txBody>
          <a:bodyPr wrap="square">
            <a:spAutoFit/>
          </a:bodyPr>
          <a:lstStyle/>
          <a:p>
            <a:pPr algn="l">
              <a:spcAft>
                <a:spcPts val="800"/>
              </a:spcAft>
              <a:defRPr sz="1500" b="1">
                <a:solidFill>
                  <a:srgbClr val="DC2626"/>
                </a:solidFill>
                <a:latin typeface="Segoe UI"/>
              </a:defRPr>
            </a:pPr>
            <a:r>
              <a:t>TICKETING OPENS: FLASH-CROWD SURGE</a:t>
            </a:r>
          </a:p>
          <a:p>
            <a:pPr algn="l">
              <a:spcAft>
                <a:spcPts val="100"/>
              </a:spcAft>
              <a:defRPr sz="1100" b="1">
                <a:solidFill>
                  <a:srgbClr val="DC2626"/>
                </a:solidFill>
                <a:latin typeface="Segoe UI"/>
              </a:defRPr>
            </a:pPr>
            <a:r>
              <a:t>• Instantaneous 100x Explosion:</a:t>
            </a:r>
          </a:p>
          <a:p>
            <a:pPr algn="l">
              <a:spcAft>
                <a:spcPts val="500"/>
              </a:spcAft>
              <a:defRPr sz="1000" b="0">
                <a:solidFill>
                  <a:srgbClr val="334155"/>
                </a:solidFill>
                <a:latin typeface="Segoe UI"/>
              </a:defRPr>
            </a:pPr>
            <a:r>
              <a:t>   Traffic spikes from 100 to 10,000 requests in under 3 seconds.</a:t>
            </a:r>
          </a:p>
          <a:p>
            <a:pPr algn="l">
              <a:spcAft>
                <a:spcPts val="100"/>
              </a:spcAft>
              <a:defRPr sz="1100" b="1">
                <a:solidFill>
                  <a:srgbClr val="DC2626"/>
                </a:solidFill>
                <a:latin typeface="Segoe UI"/>
              </a:defRPr>
            </a:pPr>
            <a:r>
              <a:t>• Extreme Contention for Final Seats:</a:t>
            </a:r>
          </a:p>
          <a:p>
            <a:pPr algn="l">
              <a:spcAft>
                <a:spcPts val="500"/>
              </a:spcAft>
              <a:defRPr sz="1000" b="0">
                <a:solidFill>
                  <a:srgbClr val="334155"/>
                </a:solidFill>
                <a:latin typeface="Segoe UI"/>
              </a:defRPr>
            </a:pPr>
            <a:r>
              <a:t>   Hundreds of users hit 'Submit' at the exact same millisecond for the last 5 seats.</a:t>
            </a:r>
          </a:p>
          <a:p>
            <a:pPr algn="l">
              <a:spcAft>
                <a:spcPts val="100"/>
              </a:spcAft>
              <a:defRPr sz="1100" b="1">
                <a:solidFill>
                  <a:srgbClr val="DC2626"/>
                </a:solidFill>
                <a:latin typeface="Segoe UI"/>
              </a:defRPr>
            </a:pPr>
            <a:r>
              <a:t>• Server &amp; Database Choke:</a:t>
            </a:r>
          </a:p>
          <a:p>
            <a:pPr algn="l">
              <a:spcAft>
                <a:spcPts val="500"/>
              </a:spcAft>
              <a:defRPr sz="1000" b="0">
                <a:solidFill>
                  <a:srgbClr val="334155"/>
                </a:solidFill>
                <a:latin typeface="Segoe UI"/>
              </a:defRPr>
            </a:pPr>
            <a:r>
              <a:t>   Database connection pool exhausts instantly; CPU spikes to 100% capacity.</a:t>
            </a:r>
          </a:p>
          <a:p>
            <a:pPr algn="l">
              <a:spcAft>
                <a:spcPts val="100"/>
              </a:spcAft>
              <a:defRPr sz="1100" b="1">
                <a:solidFill>
                  <a:srgbClr val="DC2626"/>
                </a:solidFill>
                <a:latin typeface="Segoe UI"/>
              </a:defRPr>
            </a:pPr>
            <a:r>
              <a:t>• Cascading Service Meltdown:</a:t>
            </a:r>
          </a:p>
          <a:p>
            <a:pPr algn="l">
              <a:spcAft>
                <a:spcPts val="500"/>
              </a:spcAft>
              <a:defRPr sz="1000" b="0">
                <a:solidFill>
                  <a:srgbClr val="334155"/>
                </a:solidFill>
                <a:latin typeface="Segoe UI"/>
              </a:defRPr>
            </a:pPr>
            <a:r>
              <a:t>   HTTP 504 gateway timeouts, dropped network packets, and complete service freeze.</a:t>
            </a:r>
          </a:p>
        </p:txBody>
      </p:sp>
      <p:sp>
        <p:nvSpPr>
          <p:cNvPr id="10" name="Rounded Rectangle 9"/>
          <p:cNvSpPr/>
          <p:nvPr/>
        </p:nvSpPr>
        <p:spPr>
          <a:xfrm>
            <a:off x="731520" y="4846320"/>
            <a:ext cx="10725912"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937760"/>
            <a:ext cx="10360152" cy="365760"/>
          </a:xfrm>
          <a:prstGeom prst="rect">
            <a:avLst/>
          </a:prstGeom>
          <a:noFill/>
        </p:spPr>
        <p:txBody>
          <a:bodyPr wrap="none">
            <a:spAutoFit/>
          </a:bodyPr>
          <a:lstStyle/>
          <a:p>
            <a:pPr algn="l">
              <a:spcAft>
                <a:spcPts val="0"/>
              </a:spcAft>
              <a:defRPr sz="1100" b="1">
                <a:solidFill>
                  <a:srgbClr val="DC2626"/>
                </a:solidFill>
                <a:latin typeface="Segoe UI"/>
              </a:defRPr>
            </a:pPr>
            <a:r>
              <a:t>THE UNPROTECTED MELTDOWN CASCADE:</a:t>
            </a:r>
          </a:p>
        </p:txBody>
      </p:sp>
      <p:sp>
        <p:nvSpPr>
          <p:cNvPr id="12" name="Rounded Rectangle 11"/>
          <p:cNvSpPr/>
          <p:nvPr/>
        </p:nvSpPr>
        <p:spPr>
          <a:xfrm>
            <a:off x="914400" y="5440680"/>
            <a:ext cx="1828800" cy="457200"/>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100" b="1">
                <a:solidFill>
                  <a:srgbClr val="DC2626"/>
                </a:solidFill>
                <a:latin typeface="Segoe UI"/>
              </a:defRPr>
            </a:pPr>
            <a:r>
              <a:t>Traffic Surge</a:t>
            </a:r>
          </a:p>
        </p:txBody>
      </p:sp>
      <p:sp>
        <p:nvSpPr>
          <p:cNvPr id="13" name="TextBox 12"/>
          <p:cNvSpPr txBox="1"/>
          <p:nvPr/>
        </p:nvSpPr>
        <p:spPr>
          <a:xfrm>
            <a:off x="2743200" y="5486400"/>
            <a:ext cx="274320" cy="365760"/>
          </a:xfrm>
          <a:prstGeom prst="rect">
            <a:avLst/>
          </a:prstGeom>
          <a:noFill/>
        </p:spPr>
        <p:txBody>
          <a:bodyPr wrap="none">
            <a:spAutoFit/>
          </a:bodyPr>
          <a:lstStyle/>
          <a:p>
            <a:pPr algn="ctr">
              <a:spcAft>
                <a:spcPts val="0"/>
              </a:spcAft>
              <a:defRPr sz="1600" b="1">
                <a:solidFill>
                  <a:srgbClr val="64748B"/>
                </a:solidFill>
                <a:latin typeface="Segoe UI"/>
              </a:defRPr>
            </a:pPr>
            <a:r>
              <a:t>→</a:t>
            </a:r>
          </a:p>
        </p:txBody>
      </p:sp>
      <p:sp>
        <p:nvSpPr>
          <p:cNvPr id="14" name="Rounded Rectangle 13"/>
          <p:cNvSpPr/>
          <p:nvPr/>
        </p:nvSpPr>
        <p:spPr>
          <a:xfrm>
            <a:off x="3017520" y="5440680"/>
            <a:ext cx="1828800" cy="457200"/>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100" b="1">
                <a:solidFill>
                  <a:srgbClr val="DC2626"/>
                </a:solidFill>
                <a:latin typeface="Segoe UI"/>
              </a:defRPr>
            </a:pPr>
            <a:r>
              <a:t>Server Pressure</a:t>
            </a:r>
          </a:p>
        </p:txBody>
      </p:sp>
      <p:sp>
        <p:nvSpPr>
          <p:cNvPr id="15" name="TextBox 14"/>
          <p:cNvSpPr txBox="1"/>
          <p:nvPr/>
        </p:nvSpPr>
        <p:spPr>
          <a:xfrm>
            <a:off x="4846320" y="5486400"/>
            <a:ext cx="274320" cy="365760"/>
          </a:xfrm>
          <a:prstGeom prst="rect">
            <a:avLst/>
          </a:prstGeom>
          <a:noFill/>
        </p:spPr>
        <p:txBody>
          <a:bodyPr wrap="none">
            <a:spAutoFit/>
          </a:bodyPr>
          <a:lstStyle/>
          <a:p>
            <a:pPr algn="ctr">
              <a:spcAft>
                <a:spcPts val="0"/>
              </a:spcAft>
              <a:defRPr sz="1600" b="1">
                <a:solidFill>
                  <a:srgbClr val="64748B"/>
                </a:solidFill>
                <a:latin typeface="Segoe UI"/>
              </a:defRPr>
            </a:pPr>
            <a:r>
              <a:t>→</a:t>
            </a:r>
          </a:p>
        </p:txBody>
      </p:sp>
      <p:sp>
        <p:nvSpPr>
          <p:cNvPr id="16" name="Rounded Rectangle 15"/>
          <p:cNvSpPr/>
          <p:nvPr/>
        </p:nvSpPr>
        <p:spPr>
          <a:xfrm>
            <a:off x="5120640" y="5440680"/>
            <a:ext cx="1828800" cy="457200"/>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100" b="1">
                <a:solidFill>
                  <a:srgbClr val="DC2626"/>
                </a:solidFill>
                <a:latin typeface="Segoe UI"/>
              </a:defRPr>
            </a:pPr>
            <a:r>
              <a:t>High Latency</a:t>
            </a:r>
          </a:p>
        </p:txBody>
      </p:sp>
      <p:sp>
        <p:nvSpPr>
          <p:cNvPr id="17" name="TextBox 16"/>
          <p:cNvSpPr txBox="1"/>
          <p:nvPr/>
        </p:nvSpPr>
        <p:spPr>
          <a:xfrm>
            <a:off x="6949440" y="5486400"/>
            <a:ext cx="274320" cy="365760"/>
          </a:xfrm>
          <a:prstGeom prst="rect">
            <a:avLst/>
          </a:prstGeom>
          <a:noFill/>
        </p:spPr>
        <p:txBody>
          <a:bodyPr wrap="none">
            <a:spAutoFit/>
          </a:bodyPr>
          <a:lstStyle/>
          <a:p>
            <a:pPr algn="ctr">
              <a:spcAft>
                <a:spcPts val="0"/>
              </a:spcAft>
              <a:defRPr sz="1600" b="1">
                <a:solidFill>
                  <a:srgbClr val="64748B"/>
                </a:solidFill>
                <a:latin typeface="Segoe UI"/>
              </a:defRPr>
            </a:pPr>
            <a:r>
              <a:t>→</a:t>
            </a:r>
          </a:p>
        </p:txBody>
      </p:sp>
      <p:sp>
        <p:nvSpPr>
          <p:cNvPr id="18" name="Rounded Rectangle 17"/>
          <p:cNvSpPr/>
          <p:nvPr/>
        </p:nvSpPr>
        <p:spPr>
          <a:xfrm>
            <a:off x="7223759" y="5440680"/>
            <a:ext cx="1828800" cy="457200"/>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100" b="1">
                <a:solidFill>
                  <a:srgbClr val="DC2626"/>
                </a:solidFill>
                <a:latin typeface="Segoe UI"/>
              </a:defRPr>
            </a:pPr>
            <a:r>
              <a:t>Failed Requests</a:t>
            </a:r>
          </a:p>
        </p:txBody>
      </p:sp>
      <p:sp>
        <p:nvSpPr>
          <p:cNvPr id="19" name="TextBox 18"/>
          <p:cNvSpPr txBox="1"/>
          <p:nvPr/>
        </p:nvSpPr>
        <p:spPr>
          <a:xfrm>
            <a:off x="9052559" y="5486400"/>
            <a:ext cx="274320" cy="365760"/>
          </a:xfrm>
          <a:prstGeom prst="rect">
            <a:avLst/>
          </a:prstGeom>
          <a:noFill/>
        </p:spPr>
        <p:txBody>
          <a:bodyPr wrap="none">
            <a:spAutoFit/>
          </a:bodyPr>
          <a:lstStyle/>
          <a:p>
            <a:pPr algn="ctr">
              <a:spcAft>
                <a:spcPts val="0"/>
              </a:spcAft>
              <a:defRPr sz="1600" b="1">
                <a:solidFill>
                  <a:srgbClr val="64748B"/>
                </a:solidFill>
                <a:latin typeface="Segoe UI"/>
              </a:defRPr>
            </a:pPr>
            <a:r>
              <a:t>→</a:t>
            </a:r>
          </a:p>
        </p:txBody>
      </p:sp>
      <p:sp>
        <p:nvSpPr>
          <p:cNvPr id="20" name="Rounded Rectangle 19"/>
          <p:cNvSpPr/>
          <p:nvPr/>
        </p:nvSpPr>
        <p:spPr>
          <a:xfrm>
            <a:off x="9326880" y="5440680"/>
            <a:ext cx="1828800" cy="45720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100" b="1">
                <a:solidFill>
                  <a:srgbClr val="FFFFFF"/>
                </a:solidFill>
                <a:latin typeface="Segoe UI"/>
              </a:defRPr>
            </a:pPr>
            <a:r>
              <a:t>Total Outage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000" b="1">
                <a:solidFill>
                  <a:srgbClr val="635BFF"/>
                </a:solidFill>
                <a:latin typeface="Segoe UI"/>
              </a:defRPr>
            </a:pPr>
            <a:r>
              <a:t>TECHNICAL RISK &amp; FAILURE ANALYSIS</a:t>
            </a:r>
          </a:p>
        </p:txBody>
      </p:sp>
      <p:sp>
        <p:nvSpPr>
          <p:cNvPr id="4" name="TextBox 3"/>
          <p:cNvSpPr txBox="1"/>
          <p:nvPr/>
        </p:nvSpPr>
        <p:spPr>
          <a:xfrm>
            <a:off x="731520" y="658368"/>
            <a:ext cx="9601200" cy="594360"/>
          </a:xfrm>
          <a:prstGeom prst="rect">
            <a:avLst/>
          </a:prstGeom>
          <a:noFill/>
        </p:spPr>
        <p:txBody>
          <a:bodyPr wrap="square" lIns="0" rIns="0" tIns="0" bIns="0">
            <a:spAutoFit/>
          </a:bodyPr>
          <a:lstStyle/>
          <a:p>
            <a:pPr>
              <a:defRPr sz="2100" b="1">
                <a:solidFill>
                  <a:srgbClr val="0F172A"/>
                </a:solidFill>
                <a:latin typeface="Segoe UI"/>
              </a:defRPr>
            </a:pPr>
            <a:r>
              <a:t>The Failure Chain: Why Naive Architectures Break</a:t>
            </a:r>
          </a:p>
        </p:txBody>
      </p:sp>
      <p:sp>
        <p:nvSpPr>
          <p:cNvPr id="5" name="TextBox 4"/>
          <p:cNvSpPr txBox="1"/>
          <p:nvPr/>
        </p:nvSpPr>
        <p:spPr>
          <a:xfrm>
            <a:off x="10515600" y="502920"/>
            <a:ext cx="914400" cy="365760"/>
          </a:xfrm>
          <a:prstGeom prst="rect">
            <a:avLst/>
          </a:prstGeom>
          <a:noFill/>
        </p:spPr>
        <p:txBody>
          <a:bodyPr wrap="square" lIns="0" rIns="0" tIns="0" bIns="0">
            <a:spAutoFit/>
          </a:bodyPr>
          <a:lstStyle/>
          <a:p>
            <a:pPr algn="r">
              <a:defRPr sz="1200" b="1">
                <a:solidFill>
                  <a:srgbClr val="64748B"/>
                </a:solidFill>
                <a:latin typeface="Segoe UI"/>
              </a:defRPr>
            </a:pPr>
            <a:r>
              <a:t>04 / 20</a:t>
            </a:r>
          </a:p>
        </p:txBody>
      </p:sp>
      <p:sp>
        <p:nvSpPr>
          <p:cNvPr id="6" name="Rounded Rectangle 5"/>
          <p:cNvSpPr/>
          <p:nvPr/>
        </p:nvSpPr>
        <p:spPr>
          <a:xfrm>
            <a:off x="731520" y="1371600"/>
            <a:ext cx="5166360" cy="201168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54480"/>
            <a:ext cx="4709160" cy="1645920"/>
          </a:xfrm>
          <a:prstGeom prst="rect">
            <a:avLst/>
          </a:prstGeom>
          <a:noFill/>
        </p:spPr>
        <p:txBody>
          <a:bodyPr wrap="square">
            <a:spAutoFit/>
          </a:bodyPr>
          <a:lstStyle/>
          <a:p>
            <a:pPr algn="l">
              <a:spcAft>
                <a:spcPts val="800"/>
              </a:spcAft>
              <a:defRPr sz="1400" b="1">
                <a:solidFill>
                  <a:srgbClr val="DC2626"/>
                </a:solidFill>
                <a:latin typeface="Segoe UI"/>
              </a:defRPr>
            </a:pPr>
            <a:r>
              <a:t>1. DB Connection Exhaustion</a:t>
            </a:r>
          </a:p>
          <a:p>
            <a:pPr algn="l">
              <a:spcAft>
                <a:spcPts val="0"/>
              </a:spcAft>
              <a:defRPr sz="1100" b="0">
                <a:solidFill>
                  <a:srgbClr val="334155"/>
                </a:solidFill>
                <a:latin typeface="Segoe UI"/>
              </a:defRPr>
            </a:pPr>
            <a:r>
              <a:t>PostgreSQL pool limit reached (e.g. 20 conns). Hundreds of concurrent requests queue up, stall, and drop with HTTP 500.</a:t>
            </a:r>
          </a:p>
        </p:txBody>
      </p:sp>
      <p:sp>
        <p:nvSpPr>
          <p:cNvPr id="8" name="Rounded Rectangle 7"/>
          <p:cNvSpPr/>
          <p:nvPr/>
        </p:nvSpPr>
        <p:spPr>
          <a:xfrm>
            <a:off x="6291072" y="1371600"/>
            <a:ext cx="5166360" cy="201168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554480"/>
            <a:ext cx="4709160" cy="1645920"/>
          </a:xfrm>
          <a:prstGeom prst="rect">
            <a:avLst/>
          </a:prstGeom>
          <a:noFill/>
        </p:spPr>
        <p:txBody>
          <a:bodyPr wrap="square">
            <a:spAutoFit/>
          </a:bodyPr>
          <a:lstStyle/>
          <a:p>
            <a:pPr algn="l">
              <a:spcAft>
                <a:spcPts val="800"/>
              </a:spcAft>
              <a:defRPr sz="1400" b="1">
                <a:solidFill>
                  <a:srgbClr val="DC2626"/>
                </a:solidFill>
                <a:latin typeface="Segoe UI"/>
              </a:defRPr>
            </a:pPr>
            <a:r>
              <a:t>2. Node.js Event Loop Congestion</a:t>
            </a:r>
          </a:p>
          <a:p>
            <a:pPr algn="l">
              <a:spcAft>
                <a:spcPts val="0"/>
              </a:spcAft>
              <a:defRPr sz="1100" b="0">
                <a:solidFill>
                  <a:srgbClr val="334155"/>
                </a:solidFill>
                <a:latin typeface="Segoe UI"/>
              </a:defRPr>
            </a:pPr>
            <a:r>
              <a:t>Synchronous I/O or heavy operations block the single-threaded event loop, preventing healthy health probes from responding.</a:t>
            </a:r>
          </a:p>
        </p:txBody>
      </p:sp>
      <p:sp>
        <p:nvSpPr>
          <p:cNvPr id="10" name="Rounded Rectangle 9"/>
          <p:cNvSpPr/>
          <p:nvPr/>
        </p:nvSpPr>
        <p:spPr>
          <a:xfrm>
            <a:off x="731520" y="3611880"/>
            <a:ext cx="5166360" cy="201168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794760"/>
            <a:ext cx="4709160" cy="1645920"/>
          </a:xfrm>
          <a:prstGeom prst="rect">
            <a:avLst/>
          </a:prstGeom>
          <a:noFill/>
        </p:spPr>
        <p:txBody>
          <a:bodyPr wrap="square">
            <a:spAutoFit/>
          </a:bodyPr>
          <a:lstStyle/>
          <a:p>
            <a:pPr algn="l">
              <a:spcAft>
                <a:spcPts val="800"/>
              </a:spcAft>
              <a:defRPr sz="1400" b="1">
                <a:solidFill>
                  <a:srgbClr val="DC2626"/>
                </a:solidFill>
                <a:latin typeface="Segoe UI"/>
              </a:defRPr>
            </a:pPr>
            <a:r>
              <a:t>3. Memory Spikes &amp; V8 OOM Crashes</a:t>
            </a:r>
          </a:p>
          <a:p>
            <a:pPr algn="l">
              <a:spcAft>
                <a:spcPts val="0"/>
              </a:spcAft>
              <a:defRPr sz="1100" b="0">
                <a:solidFill>
                  <a:srgbClr val="334155"/>
                </a:solidFill>
                <a:latin typeface="Segoe UI"/>
              </a:defRPr>
            </a:pPr>
            <a:r>
              <a:t>Unbuffered incoming requests pile up in memory buffers faster than they can be served, triggering Node Out-Of-Memory termination.</a:t>
            </a:r>
          </a:p>
        </p:txBody>
      </p:sp>
      <p:sp>
        <p:nvSpPr>
          <p:cNvPr id="12" name="Rounded Rectangle 11"/>
          <p:cNvSpPr/>
          <p:nvPr/>
        </p:nvSpPr>
        <p:spPr>
          <a:xfrm>
            <a:off x="6291072" y="3611880"/>
            <a:ext cx="5166360" cy="201168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3794760"/>
            <a:ext cx="4709160" cy="1645920"/>
          </a:xfrm>
          <a:prstGeom prst="rect">
            <a:avLst/>
          </a:prstGeom>
          <a:noFill/>
        </p:spPr>
        <p:txBody>
          <a:bodyPr wrap="square">
            <a:spAutoFit/>
          </a:bodyPr>
          <a:lstStyle/>
          <a:p>
            <a:pPr algn="l">
              <a:spcAft>
                <a:spcPts val="800"/>
              </a:spcAft>
              <a:defRPr sz="1400" b="1">
                <a:solidFill>
                  <a:srgbClr val="DC2626"/>
                </a:solidFill>
                <a:latin typeface="Segoe UI"/>
              </a:defRPr>
            </a:pPr>
            <a:r>
              <a:t>4. Cascading 3rd-Party Timeouts</a:t>
            </a:r>
          </a:p>
          <a:p>
            <a:pPr algn="l">
              <a:spcAft>
                <a:spcPts val="0"/>
              </a:spcAft>
              <a:defRPr sz="1100" b="0">
                <a:solidFill>
                  <a:srgbClr val="334155"/>
                </a:solidFill>
                <a:latin typeface="Segoe UI"/>
              </a:defRPr>
            </a:pPr>
            <a:r>
              <a:t>Calling external email/SMS confirmation services synchronously (taking 1-2s) holds HTTP worker threads hostage.</a:t>
            </a:r>
          </a:p>
        </p:txBody>
      </p:sp>
      <p:sp>
        <p:nvSpPr>
          <p:cNvPr id="14" name="Rounded Rectangle 13"/>
          <p:cNvSpPr/>
          <p:nvPr/>
        </p:nvSpPr>
        <p:spPr>
          <a:xfrm>
            <a:off x="731520" y="5669280"/>
            <a:ext cx="10725912" cy="640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715000"/>
            <a:ext cx="10360152" cy="548640"/>
          </a:xfrm>
          <a:prstGeom prst="rect">
            <a:avLst/>
          </a:prstGeom>
          <a:noFill/>
        </p:spPr>
        <p:txBody>
          <a:bodyPr wrap="none">
            <a:spAutoFit/>
          </a:bodyPr>
          <a:lstStyle/>
          <a:p>
            <a:pPr algn="ctr">
              <a:spcAft>
                <a:spcPts val="0"/>
              </a:spcAft>
              <a:defRPr sz="1100" b="1">
                <a:solidFill>
                  <a:srgbClr val="DC2626"/>
                </a:solidFill>
                <a:latin typeface="Segoe UI"/>
              </a:defRPr>
            </a:pPr>
            <a:r>
              <a:t>Key Architectural Insight: Web platforms do not fail because of bad code; they fail because unbuffered traffic hits unprotected state.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000" b="1">
                <a:solidFill>
                  <a:srgbClr val="635BFF"/>
                </a:solidFill>
                <a:latin typeface="Segoe UI"/>
              </a:defRPr>
            </a:pPr>
            <a:r>
              <a:t>EARLY SYSTEM DESIGN (EXPLAINABLE IN 2 MINUTES)</a:t>
            </a:r>
          </a:p>
        </p:txBody>
      </p:sp>
      <p:sp>
        <p:nvSpPr>
          <p:cNvPr id="4" name="TextBox 3"/>
          <p:cNvSpPr txBox="1"/>
          <p:nvPr/>
        </p:nvSpPr>
        <p:spPr>
          <a:xfrm>
            <a:off x="731520" y="658368"/>
            <a:ext cx="9601200" cy="594360"/>
          </a:xfrm>
          <a:prstGeom prst="rect">
            <a:avLst/>
          </a:prstGeom>
          <a:noFill/>
        </p:spPr>
        <p:txBody>
          <a:bodyPr wrap="square" lIns="0" rIns="0" tIns="0" bIns="0">
            <a:spAutoFit/>
          </a:bodyPr>
          <a:lstStyle/>
          <a:p>
            <a:pPr>
              <a:defRPr sz="2100" b="1">
                <a:solidFill>
                  <a:srgbClr val="0F172A"/>
                </a:solidFill>
                <a:latin typeface="Segoe UI"/>
              </a:defRPr>
            </a:pPr>
            <a:r>
              <a:t>SurgeShield End-to-End Architecture: Built for Resilience</a:t>
            </a:r>
          </a:p>
        </p:txBody>
      </p:sp>
      <p:sp>
        <p:nvSpPr>
          <p:cNvPr id="5" name="TextBox 4"/>
          <p:cNvSpPr txBox="1"/>
          <p:nvPr/>
        </p:nvSpPr>
        <p:spPr>
          <a:xfrm>
            <a:off x="10515600" y="502920"/>
            <a:ext cx="914400" cy="365760"/>
          </a:xfrm>
          <a:prstGeom prst="rect">
            <a:avLst/>
          </a:prstGeom>
          <a:noFill/>
        </p:spPr>
        <p:txBody>
          <a:bodyPr wrap="square" lIns="0" rIns="0" tIns="0" bIns="0">
            <a:spAutoFit/>
          </a:bodyPr>
          <a:lstStyle/>
          <a:p>
            <a:pPr algn="r">
              <a:defRPr sz="1200" b="1">
                <a:solidFill>
                  <a:srgbClr val="64748B"/>
                </a:solidFill>
                <a:latin typeface="Segoe UI"/>
              </a:defRPr>
            </a:pPr>
            <a:r>
              <a:t>05 / 20</a:t>
            </a:r>
          </a:p>
        </p:txBody>
      </p:sp>
      <p:sp>
        <p:nvSpPr>
          <p:cNvPr id="6" name="Rounded Rectangle 5"/>
          <p:cNvSpPr/>
          <p:nvPr/>
        </p:nvSpPr>
        <p:spPr>
          <a:xfrm>
            <a:off x="731520" y="1280160"/>
            <a:ext cx="10725912"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1463040"/>
            <a:ext cx="2011680" cy="3749039"/>
          </a:xfrm>
          <a:prstGeom prst="roundRect">
            <a:avLst/>
          </a:prstGeom>
          <a:solidFill>
            <a:srgbClr val="F5F3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600200"/>
            <a:ext cx="1828800" cy="3474720"/>
          </a:xfrm>
          <a:prstGeom prst="rect">
            <a:avLst/>
          </a:prstGeom>
          <a:noFill/>
        </p:spPr>
        <p:txBody>
          <a:bodyPr wrap="square">
            <a:spAutoFit/>
          </a:bodyPr>
          <a:lstStyle/>
          <a:p>
            <a:pPr algn="ctr">
              <a:spcAft>
                <a:spcPts val="800"/>
              </a:spcAft>
              <a:defRPr sz="1300" b="1">
                <a:solidFill>
                  <a:srgbClr val="635BFF"/>
                </a:solidFill>
                <a:latin typeface="Segoe UI"/>
              </a:defRPr>
            </a:pPr>
            <a:r>
              <a:t>USERS &amp; CLIENTS</a:t>
            </a:r>
          </a:p>
          <a:p>
            <a:pPr algn="l">
              <a:spcAft>
                <a:spcPts val="0"/>
              </a:spcAft>
              <a:defRPr sz="1000" b="0">
                <a:solidFill>
                  <a:srgbClr val="334155"/>
                </a:solidFill>
                <a:latin typeface="Segoe UI"/>
              </a:defRPr>
            </a:pPr>
            <a:r>
              <a:t>• Web Attendees</a:t>
            </a:r>
            <a:br/>
            <a:r>
              <a:t>• Event Organizers</a:t>
            </a:r>
            <a:br/>
            <a:r>
              <a:t>• Stress Test Generator</a:t>
            </a:r>
            <a:br/>
            <a:r>
              <a:t>  (25-50 burst requests)</a:t>
            </a:r>
            <a:br/>
            <a:br/>
            <a:r>
              <a:t>Features:</a:t>
            </a:r>
            <a:br/>
            <a:r>
              <a:t>• Idempotency UUIDs</a:t>
            </a:r>
            <a:br/>
            <a:r>
              <a:t>• JWT Token Auth</a:t>
            </a:r>
            <a:br/>
            <a:r>
              <a:t>• Seat Visualizer</a:t>
            </a:r>
          </a:p>
        </p:txBody>
      </p:sp>
      <p:sp>
        <p:nvSpPr>
          <p:cNvPr id="9" name="Rounded Rectangle 8"/>
          <p:cNvSpPr/>
          <p:nvPr/>
        </p:nvSpPr>
        <p:spPr>
          <a:xfrm>
            <a:off x="3154680" y="3108960"/>
            <a:ext cx="548640" cy="274320"/>
          </a:xfrm>
          <a:prstGeom prst="round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00" b="1">
                <a:solidFill>
                  <a:srgbClr val="FFFFFF"/>
                </a:solidFill>
                <a:latin typeface="Segoe UI"/>
              </a:defRPr>
            </a:pPr>
            <a:r>
              <a:t>HTTP</a:t>
            </a:r>
          </a:p>
        </p:txBody>
      </p:sp>
      <p:sp>
        <p:nvSpPr>
          <p:cNvPr id="10" name="Rounded Rectangle 9"/>
          <p:cNvSpPr/>
          <p:nvPr/>
        </p:nvSpPr>
        <p:spPr>
          <a:xfrm>
            <a:off x="3840480" y="1463040"/>
            <a:ext cx="2103120" cy="3749039"/>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31920" y="1600200"/>
            <a:ext cx="1920240" cy="3474720"/>
          </a:xfrm>
          <a:prstGeom prst="rect">
            <a:avLst/>
          </a:prstGeom>
          <a:noFill/>
        </p:spPr>
        <p:txBody>
          <a:bodyPr wrap="square">
            <a:spAutoFit/>
          </a:bodyPr>
          <a:lstStyle/>
          <a:p>
            <a:pPr algn="ctr">
              <a:spcAft>
                <a:spcPts val="800"/>
              </a:spcAft>
              <a:defRPr sz="1300" b="1">
                <a:solidFill>
                  <a:srgbClr val="2563EB"/>
                </a:solidFill>
                <a:latin typeface="Segoe UI"/>
              </a:defRPr>
            </a:pPr>
            <a:r>
              <a:t>NGINX GATEWAY</a:t>
            </a:r>
          </a:p>
          <a:p>
            <a:pPr algn="l">
              <a:spcAft>
                <a:spcPts val="0"/>
              </a:spcAft>
              <a:defRPr sz="1000" b="0">
                <a:solidFill>
                  <a:srgbClr val="334155"/>
                </a:solidFill>
                <a:latin typeface="Segoe UI"/>
              </a:defRPr>
            </a:pPr>
            <a:r>
              <a:t>Port: 8080</a:t>
            </a:r>
            <a:br/>
            <a:br/>
            <a:r>
              <a:t>• L7 Round-Robin LB</a:t>
            </a:r>
            <a:br/>
            <a:r>
              <a:t>• Edge Rate Limiting:</a:t>
            </a:r>
            <a:br/>
            <a:r>
              <a:t>  limit_req (20 r/s)</a:t>
            </a:r>
            <a:br/>
            <a:r>
              <a:t>• Burst buffer: 40</a:t>
            </a:r>
            <a:br/>
            <a:r>
              <a:t>• Upstream Failover:</a:t>
            </a:r>
            <a:br/>
            <a:r>
              <a:t>  max_fails=2, 5s</a:t>
            </a:r>
            <a:br/>
            <a:r>
              <a:t>• Static Asset Host</a:t>
            </a:r>
          </a:p>
        </p:txBody>
      </p:sp>
      <p:sp>
        <p:nvSpPr>
          <p:cNvPr id="12" name="Rounded Rectangle 11"/>
          <p:cNvSpPr/>
          <p:nvPr/>
        </p:nvSpPr>
        <p:spPr>
          <a:xfrm>
            <a:off x="6080760" y="3108960"/>
            <a:ext cx="54864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00" b="1">
                <a:solidFill>
                  <a:srgbClr val="FFFFFF"/>
                </a:solidFill>
                <a:latin typeface="Segoe UI"/>
              </a:defRPr>
            </a:pPr>
            <a:r>
              <a:t>PROXY</a:t>
            </a:r>
          </a:p>
        </p:txBody>
      </p:sp>
      <p:sp>
        <p:nvSpPr>
          <p:cNvPr id="13" name="Rounded Rectangle 12"/>
          <p:cNvSpPr/>
          <p:nvPr/>
        </p:nvSpPr>
        <p:spPr>
          <a:xfrm>
            <a:off x="6766560" y="1463040"/>
            <a:ext cx="2103120" cy="3749039"/>
          </a:xfrm>
          <a:prstGeom prst="roundRect">
            <a:avLst/>
          </a:prstGeom>
          <a:solidFill>
            <a:srgbClr val="F5F3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1600200"/>
            <a:ext cx="1920240" cy="3474720"/>
          </a:xfrm>
          <a:prstGeom prst="rect">
            <a:avLst/>
          </a:prstGeom>
          <a:noFill/>
        </p:spPr>
        <p:txBody>
          <a:bodyPr wrap="square">
            <a:spAutoFit/>
          </a:bodyPr>
          <a:lstStyle/>
          <a:p>
            <a:pPr algn="ctr">
              <a:spcAft>
                <a:spcPts val="800"/>
              </a:spcAft>
              <a:defRPr sz="1300" b="1">
                <a:solidFill>
                  <a:srgbClr val="635BFF"/>
                </a:solidFill>
                <a:latin typeface="Segoe UI"/>
              </a:defRPr>
            </a:pPr>
            <a:r>
              <a:t>API CLUSTER (3x)</a:t>
            </a:r>
          </a:p>
          <a:p>
            <a:pPr algn="l">
              <a:spcAft>
                <a:spcPts val="0"/>
              </a:spcAft>
              <a:defRPr sz="1000" b="0">
                <a:solidFill>
                  <a:srgbClr val="334155"/>
                </a:solidFill>
                <a:latin typeface="Segoe UI"/>
              </a:defRPr>
            </a:pPr>
            <a:r>
              <a:t>App 1 | App 2 | App 3</a:t>
            </a:r>
            <a:br/>
            <a:r>
              <a:t>(Port 3000 Stateless)</a:t>
            </a:r>
            <a:br/>
            <a:br/>
            <a:r>
              <a:t>• JWT Verification</a:t>
            </a:r>
            <a:br/>
            <a:r>
              <a:t>• App Rate Limiting</a:t>
            </a:r>
            <a:br/>
            <a:r>
              <a:t>• Concurrency Gating</a:t>
            </a:r>
            <a:br/>
            <a:r>
              <a:t>• Outbox Enqueue</a:t>
            </a:r>
            <a:br/>
            <a:r>
              <a:t>• servedBy Header</a:t>
            </a:r>
          </a:p>
        </p:txBody>
      </p:sp>
      <p:sp>
        <p:nvSpPr>
          <p:cNvPr id="15" name="Rounded Rectangle 14"/>
          <p:cNvSpPr/>
          <p:nvPr/>
        </p:nvSpPr>
        <p:spPr>
          <a:xfrm>
            <a:off x="9006840" y="3108960"/>
            <a:ext cx="548640" cy="27432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00" b="1">
                <a:solidFill>
                  <a:srgbClr val="FFFFFF"/>
                </a:solidFill>
                <a:latin typeface="Segoe UI"/>
              </a:defRPr>
            </a:pPr>
            <a:r>
              <a:t>DATA</a:t>
            </a:r>
          </a:p>
        </p:txBody>
      </p:sp>
      <p:sp>
        <p:nvSpPr>
          <p:cNvPr id="16" name="Rounded Rectangle 15"/>
          <p:cNvSpPr/>
          <p:nvPr/>
        </p:nvSpPr>
        <p:spPr>
          <a:xfrm>
            <a:off x="9692640" y="1463040"/>
            <a:ext cx="1600200" cy="3749039"/>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8360" y="1600200"/>
            <a:ext cx="1508760" cy="3474720"/>
          </a:xfrm>
          <a:prstGeom prst="rect">
            <a:avLst/>
          </a:prstGeom>
          <a:noFill/>
        </p:spPr>
        <p:txBody>
          <a:bodyPr wrap="square">
            <a:spAutoFit/>
          </a:bodyPr>
          <a:lstStyle/>
          <a:p>
            <a:pPr algn="ctr">
              <a:spcAft>
                <a:spcPts val="600"/>
              </a:spcAft>
              <a:defRPr sz="1200" b="1">
                <a:solidFill>
                  <a:srgbClr val="16A34A"/>
                </a:solidFill>
                <a:latin typeface="Segoe UI"/>
              </a:defRPr>
            </a:pPr>
            <a:r>
              <a:t>DATA &amp; QUEUE</a:t>
            </a:r>
          </a:p>
          <a:p>
            <a:pPr algn="l">
              <a:spcAft>
                <a:spcPts val="0"/>
              </a:spcAft>
              <a:defRPr sz="950" b="0">
                <a:solidFill>
                  <a:srgbClr val="334155"/>
                </a:solidFill>
                <a:latin typeface="Segoe UI"/>
              </a:defRPr>
            </a:pPr>
            <a:r>
              <a:t>PostgreSQL 16:</a:t>
            </a:r>
            <a:br/>
            <a:r>
              <a:t>• FOR UPDATE Lock</a:t>
            </a:r>
            <a:br/>
            <a:r>
              <a:t>• Check Invariants</a:t>
            </a:r>
            <a:br/>
            <a:r>
              <a:t>• Outbox Records</a:t>
            </a:r>
            <a:br/>
            <a:br/>
            <a:r>
              <a:t>Redis 7 &amp; BullMQ:</a:t>
            </a:r>
            <a:br/>
            <a:r>
              <a:t>• 5s Catalog Cache</a:t>
            </a:r>
            <a:br/>
            <a:r>
              <a:t>• Job Queue (AOF)</a:t>
            </a:r>
            <a:br/>
            <a:br/>
            <a:r>
              <a:t>Worker Service:</a:t>
            </a:r>
            <a:br/>
            <a:r>
              <a:t>• Async Consumer</a:t>
            </a:r>
          </a:p>
        </p:txBody>
      </p:sp>
      <p:sp>
        <p:nvSpPr>
          <p:cNvPr id="18" name="Rounded Rectangle 17"/>
          <p:cNvSpPr/>
          <p:nvPr/>
        </p:nvSpPr>
        <p:spPr>
          <a:xfrm>
            <a:off x="731520" y="5532120"/>
            <a:ext cx="10725912" cy="7772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577840"/>
            <a:ext cx="10360152" cy="685800"/>
          </a:xfrm>
          <a:prstGeom prst="rect">
            <a:avLst/>
          </a:prstGeom>
          <a:noFill/>
        </p:spPr>
        <p:txBody>
          <a:bodyPr wrap="square">
            <a:spAutoFit/>
          </a:bodyPr>
          <a:lstStyle/>
          <a:p>
            <a:pPr algn="l">
              <a:spcAft>
                <a:spcPts val="200"/>
              </a:spcAft>
              <a:defRPr sz="1000" b="1">
                <a:solidFill>
                  <a:srgbClr val="A5B4FC"/>
                </a:solidFill>
                <a:latin typeface="Segoe UI"/>
              </a:defRPr>
            </a:pPr>
            <a:r>
              <a:t>WHERE KEY SURGESHIELD CAPABILITIES LIVE IN THE ARCHITECTURE:</a:t>
            </a:r>
          </a:p>
          <a:p>
            <a:pPr algn="l">
              <a:spcAft>
                <a:spcPts val="0"/>
              </a:spcAft>
              <a:defRPr sz="1000" b="0">
                <a:solidFill>
                  <a:srgbClr val="FFFFFF"/>
                </a:solidFill>
                <a:latin typeface="Segoe UI"/>
              </a:defRPr>
            </a:pPr>
            <a:r>
              <a:t>• Load Balancing: Nginx (:8080)   • Concurrency Control: PostgreSQL Row Lock   • Idempotency: API Pre-check + DB Unique</a:t>
            </a:r>
            <a:br/>
            <a:r>
              <a:t>• Async Processing: BullMQ + Redis + Worker   • Health Probes: /health (Composite)   • Scaling: Queue-Depth Virtual Pool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000" b="1">
                <a:solidFill>
                  <a:srgbClr val="635BFF"/>
                </a:solidFill>
                <a:latin typeface="Segoe UI"/>
              </a:defRPr>
            </a:pPr>
            <a:r>
              <a:t>OUR ENGINEERING METHODOLOGY</a:t>
            </a:r>
          </a:p>
        </p:txBody>
      </p:sp>
      <p:sp>
        <p:nvSpPr>
          <p:cNvPr id="4" name="TextBox 3"/>
          <p:cNvSpPr txBox="1"/>
          <p:nvPr/>
        </p:nvSpPr>
        <p:spPr>
          <a:xfrm>
            <a:off x="731520" y="658368"/>
            <a:ext cx="9601200" cy="594360"/>
          </a:xfrm>
          <a:prstGeom prst="rect">
            <a:avLst/>
          </a:prstGeom>
          <a:noFill/>
        </p:spPr>
        <p:txBody>
          <a:bodyPr wrap="square" lIns="0" rIns="0" tIns="0" bIns="0">
            <a:spAutoFit/>
          </a:bodyPr>
          <a:lstStyle/>
          <a:p>
            <a:pPr>
              <a:defRPr sz="2100" b="1">
                <a:solidFill>
                  <a:srgbClr val="0F172A"/>
                </a:solidFill>
                <a:latin typeface="Segoe UI"/>
              </a:defRPr>
            </a:pPr>
            <a:r>
              <a:t>Systematic Engineering: How SurgeShield Solves Challenges</a:t>
            </a:r>
          </a:p>
        </p:txBody>
      </p:sp>
      <p:sp>
        <p:nvSpPr>
          <p:cNvPr id="5" name="TextBox 4"/>
          <p:cNvSpPr txBox="1"/>
          <p:nvPr/>
        </p:nvSpPr>
        <p:spPr>
          <a:xfrm>
            <a:off x="10515600" y="502920"/>
            <a:ext cx="914400" cy="365760"/>
          </a:xfrm>
          <a:prstGeom prst="rect">
            <a:avLst/>
          </a:prstGeom>
          <a:noFill/>
        </p:spPr>
        <p:txBody>
          <a:bodyPr wrap="square" lIns="0" rIns="0" tIns="0" bIns="0">
            <a:spAutoFit/>
          </a:bodyPr>
          <a:lstStyle/>
          <a:p>
            <a:pPr algn="r">
              <a:defRPr sz="1200" b="1">
                <a:solidFill>
                  <a:srgbClr val="64748B"/>
                </a:solidFill>
                <a:latin typeface="Segoe UI"/>
              </a:defRPr>
            </a:pPr>
            <a:r>
              <a:t>06 / 20</a:t>
            </a:r>
          </a:p>
        </p:txBody>
      </p:sp>
      <p:sp>
        <p:nvSpPr>
          <p:cNvPr id="6" name="Rounded Rectangle 5"/>
          <p:cNvSpPr/>
          <p:nvPr/>
        </p:nvSpPr>
        <p:spPr>
          <a:xfrm>
            <a:off x="731520" y="1280160"/>
            <a:ext cx="10725912" cy="7772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25880"/>
            <a:ext cx="10360152" cy="685800"/>
          </a:xfrm>
          <a:prstGeom prst="rect">
            <a:avLst/>
          </a:prstGeom>
          <a:noFill/>
        </p:spPr>
        <p:txBody>
          <a:bodyPr wrap="square">
            <a:spAutoFit/>
          </a:bodyPr>
          <a:lstStyle/>
          <a:p>
            <a:pPr algn="l">
              <a:spcAft>
                <a:spcPts val="200"/>
              </a:spcAft>
              <a:defRPr sz="1300" b="1">
                <a:solidFill>
                  <a:srgbClr val="2563EB"/>
                </a:solidFill>
                <a:latin typeface="Segoe UI"/>
              </a:defRPr>
            </a:pPr>
            <a:r>
              <a:t>The Repeatable 5-Step Discipline Applied to Every Failure Mode:</a:t>
            </a:r>
          </a:p>
          <a:p>
            <a:pPr algn="l">
              <a:spcAft>
                <a:spcPts val="0"/>
              </a:spcAft>
              <a:defRPr sz="1100" b="0">
                <a:solidFill>
                  <a:srgbClr val="0F172A"/>
                </a:solidFill>
                <a:latin typeface="Segoe UI"/>
              </a:defRPr>
            </a:pPr>
            <a:r>
              <a:t>Rather than deploying ad-hoc fixes, SurgeShield isolates each high-traffic vulnerability through this systematic engineering framework. The next slides walk through each problem using this exact flow.</a:t>
            </a:r>
          </a:p>
        </p:txBody>
      </p:sp>
      <p:sp>
        <p:nvSpPr>
          <p:cNvPr id="8" name="Rounded Rectangle 7"/>
          <p:cNvSpPr/>
          <p:nvPr/>
        </p:nvSpPr>
        <p:spPr>
          <a:xfrm>
            <a:off x="731520" y="2240280"/>
            <a:ext cx="2011680" cy="292608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2960" y="2377440"/>
            <a:ext cx="1828800" cy="32004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000" b="1">
                <a:solidFill>
                  <a:srgbClr val="FFFFFF"/>
                </a:solidFill>
                <a:latin typeface="Segoe UI"/>
              </a:defRPr>
            </a:pPr>
            <a:r>
              <a:t>1. PROBLEM</a:t>
            </a:r>
          </a:p>
        </p:txBody>
      </p:sp>
      <p:sp>
        <p:nvSpPr>
          <p:cNvPr id="10" name="TextBox 9"/>
          <p:cNvSpPr txBox="1"/>
          <p:nvPr/>
        </p:nvSpPr>
        <p:spPr>
          <a:xfrm>
            <a:off x="868680" y="2834640"/>
            <a:ext cx="1737360" cy="2194560"/>
          </a:xfrm>
          <a:prstGeom prst="rect">
            <a:avLst/>
          </a:prstGeom>
          <a:noFill/>
        </p:spPr>
        <p:txBody>
          <a:bodyPr wrap="square">
            <a:spAutoFit/>
          </a:bodyPr>
          <a:lstStyle/>
          <a:p>
            <a:pPr algn="l">
              <a:spcAft>
                <a:spcPts val="0"/>
              </a:spcAft>
              <a:defRPr sz="1100" b="0">
                <a:solidFill>
                  <a:srgbClr val="334155"/>
                </a:solidFill>
                <a:latin typeface="Segoe UI"/>
              </a:defRPr>
            </a:pPr>
            <a:r>
              <a:t>The real-world failure mode or bottleneck that causes customer complaints.</a:t>
            </a:r>
          </a:p>
        </p:txBody>
      </p:sp>
      <p:sp>
        <p:nvSpPr>
          <p:cNvPr id="11" name="Rounded Rectangle 10"/>
          <p:cNvSpPr/>
          <p:nvPr/>
        </p:nvSpPr>
        <p:spPr>
          <a:xfrm>
            <a:off x="2907791" y="2240280"/>
            <a:ext cx="2011680" cy="292608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99231" y="2377440"/>
            <a:ext cx="1828800" cy="32004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000" b="1">
                <a:solidFill>
                  <a:srgbClr val="FFFFFF"/>
                </a:solidFill>
                <a:latin typeface="Segoe UI"/>
              </a:defRPr>
            </a:pPr>
            <a:r>
              <a:t>2. WHY IT HAPPENS</a:t>
            </a:r>
          </a:p>
        </p:txBody>
      </p:sp>
      <p:sp>
        <p:nvSpPr>
          <p:cNvPr id="13" name="TextBox 12"/>
          <p:cNvSpPr txBox="1"/>
          <p:nvPr/>
        </p:nvSpPr>
        <p:spPr>
          <a:xfrm>
            <a:off x="3044951" y="2834640"/>
            <a:ext cx="1737360" cy="2194560"/>
          </a:xfrm>
          <a:prstGeom prst="rect">
            <a:avLst/>
          </a:prstGeom>
          <a:noFill/>
        </p:spPr>
        <p:txBody>
          <a:bodyPr wrap="square">
            <a:spAutoFit/>
          </a:bodyPr>
          <a:lstStyle/>
          <a:p>
            <a:pPr algn="l">
              <a:spcAft>
                <a:spcPts val="0"/>
              </a:spcAft>
              <a:defRPr sz="1100" b="0">
                <a:solidFill>
                  <a:srgbClr val="334155"/>
                </a:solidFill>
                <a:latin typeface="Segoe UI"/>
              </a:defRPr>
            </a:pPr>
            <a:r>
              <a:t>The root-cause flaw in naive architectures (e.g. read-modify-write races).</a:t>
            </a:r>
          </a:p>
        </p:txBody>
      </p:sp>
      <p:sp>
        <p:nvSpPr>
          <p:cNvPr id="14" name="Rounded Rectangle 13"/>
          <p:cNvSpPr/>
          <p:nvPr/>
        </p:nvSpPr>
        <p:spPr>
          <a:xfrm>
            <a:off x="5084064" y="2240280"/>
            <a:ext cx="2011680" cy="292608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175504" y="2377440"/>
            <a:ext cx="1828800" cy="32004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000" b="1">
                <a:solidFill>
                  <a:srgbClr val="FFFFFF"/>
                </a:solidFill>
                <a:latin typeface="Segoe UI"/>
              </a:defRPr>
            </a:pPr>
            <a:r>
              <a:t>3. SURGESHIELD SOLUTION</a:t>
            </a:r>
          </a:p>
        </p:txBody>
      </p:sp>
      <p:sp>
        <p:nvSpPr>
          <p:cNvPr id="16" name="TextBox 15"/>
          <p:cNvSpPr txBox="1"/>
          <p:nvPr/>
        </p:nvSpPr>
        <p:spPr>
          <a:xfrm>
            <a:off x="5221224" y="2834640"/>
            <a:ext cx="1737360" cy="2194560"/>
          </a:xfrm>
          <a:prstGeom prst="rect">
            <a:avLst/>
          </a:prstGeom>
          <a:noFill/>
        </p:spPr>
        <p:txBody>
          <a:bodyPr wrap="square">
            <a:spAutoFit/>
          </a:bodyPr>
          <a:lstStyle/>
          <a:p>
            <a:pPr algn="l">
              <a:spcAft>
                <a:spcPts val="0"/>
              </a:spcAft>
              <a:defRPr sz="1100" b="0">
                <a:solidFill>
                  <a:srgbClr val="334155"/>
                </a:solidFill>
                <a:latin typeface="Segoe UI"/>
              </a:defRPr>
            </a:pPr>
            <a:r>
              <a:t>The conceptual engineering pattern that guarantees resilience.</a:t>
            </a:r>
          </a:p>
        </p:txBody>
      </p:sp>
      <p:sp>
        <p:nvSpPr>
          <p:cNvPr id="17" name="Rounded Rectangle 16"/>
          <p:cNvSpPr/>
          <p:nvPr/>
        </p:nvSpPr>
        <p:spPr>
          <a:xfrm>
            <a:off x="7260336" y="2240280"/>
            <a:ext cx="2011680" cy="292608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51776" y="2377440"/>
            <a:ext cx="182880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000" b="1">
                <a:solidFill>
                  <a:srgbClr val="FFFFFF"/>
                </a:solidFill>
                <a:latin typeface="Segoe UI"/>
              </a:defRPr>
            </a:pPr>
            <a:r>
              <a:t>4. TECHNOLOGY USED</a:t>
            </a:r>
          </a:p>
        </p:txBody>
      </p:sp>
      <p:sp>
        <p:nvSpPr>
          <p:cNvPr id="19" name="TextBox 18"/>
          <p:cNvSpPr txBox="1"/>
          <p:nvPr/>
        </p:nvSpPr>
        <p:spPr>
          <a:xfrm>
            <a:off x="7397496" y="2834640"/>
            <a:ext cx="1737360" cy="2194560"/>
          </a:xfrm>
          <a:prstGeom prst="rect">
            <a:avLst/>
          </a:prstGeom>
          <a:noFill/>
        </p:spPr>
        <p:txBody>
          <a:bodyPr wrap="square">
            <a:spAutoFit/>
          </a:bodyPr>
          <a:lstStyle/>
          <a:p>
            <a:pPr algn="l">
              <a:spcAft>
                <a:spcPts val="0"/>
              </a:spcAft>
              <a:defRPr sz="1100" b="0">
                <a:solidFill>
                  <a:srgbClr val="334155"/>
                </a:solidFill>
                <a:latin typeface="Segoe UI"/>
              </a:defRPr>
            </a:pPr>
            <a:r>
              <a:t>The enterprise tool selected to enforce this solution (e.g. PostgreSQL).</a:t>
            </a:r>
          </a:p>
        </p:txBody>
      </p:sp>
      <p:sp>
        <p:nvSpPr>
          <p:cNvPr id="20" name="Rounded Rectangle 19"/>
          <p:cNvSpPr/>
          <p:nvPr/>
        </p:nvSpPr>
        <p:spPr>
          <a:xfrm>
            <a:off x="9436608" y="2240280"/>
            <a:ext cx="2011680" cy="2926080"/>
          </a:xfrm>
          <a:prstGeom prst="roundRect">
            <a:avLst/>
          </a:prstGeom>
          <a:solidFill>
            <a:srgbClr val="F5F3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528048" y="2377440"/>
            <a:ext cx="1828800" cy="320040"/>
          </a:xfrm>
          <a:prstGeom prst="round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000" b="1">
                <a:solidFill>
                  <a:srgbClr val="FFFFFF"/>
                </a:solidFill>
                <a:latin typeface="Segoe UI"/>
              </a:defRPr>
            </a:pPr>
            <a:r>
              <a:t>5. WHAT WE IMPLEMENTED</a:t>
            </a:r>
          </a:p>
        </p:txBody>
      </p:sp>
      <p:sp>
        <p:nvSpPr>
          <p:cNvPr id="22" name="TextBox 21"/>
          <p:cNvSpPr txBox="1"/>
          <p:nvPr/>
        </p:nvSpPr>
        <p:spPr>
          <a:xfrm>
            <a:off x="9573768" y="2834640"/>
            <a:ext cx="1737360" cy="2194560"/>
          </a:xfrm>
          <a:prstGeom prst="rect">
            <a:avLst/>
          </a:prstGeom>
          <a:noFill/>
        </p:spPr>
        <p:txBody>
          <a:bodyPr wrap="square">
            <a:spAutoFit/>
          </a:bodyPr>
          <a:lstStyle/>
          <a:p>
            <a:pPr algn="l">
              <a:spcAft>
                <a:spcPts val="0"/>
              </a:spcAft>
              <a:defRPr sz="1100" b="0">
                <a:solidFill>
                  <a:srgbClr val="334155"/>
                </a:solidFill>
                <a:latin typeface="Segoe UI"/>
              </a:defRPr>
            </a:pPr>
            <a:r>
              <a:t>The verified code, SQL migration, or config in our project.</a:t>
            </a:r>
          </a:p>
        </p:txBody>
      </p:sp>
      <p:sp>
        <p:nvSpPr>
          <p:cNvPr id="23" name="Rounded Rectangle 22"/>
          <p:cNvSpPr/>
          <p:nvPr/>
        </p:nvSpPr>
        <p:spPr>
          <a:xfrm>
            <a:off x="731520" y="5394960"/>
            <a:ext cx="10725912"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440680"/>
            <a:ext cx="10360152" cy="685800"/>
          </a:xfrm>
          <a:prstGeom prst="rect">
            <a:avLst/>
          </a:prstGeom>
          <a:noFill/>
        </p:spPr>
        <p:txBody>
          <a:bodyPr wrap="none">
            <a:spAutoFit/>
          </a:bodyPr>
          <a:lstStyle/>
          <a:p>
            <a:pPr algn="ctr">
              <a:spcAft>
                <a:spcPts val="0"/>
              </a:spcAft>
              <a:defRPr sz="1200" b="1">
                <a:solidFill>
                  <a:srgbClr val="635BFF"/>
                </a:solidFill>
                <a:latin typeface="Segoe UI"/>
              </a:defRPr>
            </a:pPr>
            <a:r>
              <a:t>Now, let us examine the 6 critical problems SurgeShield overcomes, starting with the most dangerous: Concurrency &amp; Overbooking.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000" b="1">
                <a:solidFill>
                  <a:srgbClr val="635BFF"/>
                </a:solidFill>
                <a:latin typeface="Segoe UI"/>
              </a:defRPr>
            </a:pPr>
            <a:r>
              <a:t>P1 CORE CHALLENGE: ZERO OVERBOOKING</a:t>
            </a:r>
          </a:p>
        </p:txBody>
      </p:sp>
      <p:sp>
        <p:nvSpPr>
          <p:cNvPr id="4" name="TextBox 3"/>
          <p:cNvSpPr txBox="1"/>
          <p:nvPr/>
        </p:nvSpPr>
        <p:spPr>
          <a:xfrm>
            <a:off x="731520" y="658368"/>
            <a:ext cx="9601200" cy="594360"/>
          </a:xfrm>
          <a:prstGeom prst="rect">
            <a:avLst/>
          </a:prstGeom>
          <a:noFill/>
        </p:spPr>
        <p:txBody>
          <a:bodyPr wrap="square" lIns="0" rIns="0" tIns="0" bIns="0">
            <a:spAutoFit/>
          </a:bodyPr>
          <a:lstStyle/>
          <a:p>
            <a:pPr>
              <a:defRPr sz="2100" b="1">
                <a:solidFill>
                  <a:srgbClr val="0F172A"/>
                </a:solidFill>
                <a:latin typeface="Segoe UI"/>
              </a:defRPr>
            </a:pPr>
            <a:r>
              <a:t>Problem 1: Concurrency &amp; Overbooking (The Race Condition)</a:t>
            </a:r>
          </a:p>
        </p:txBody>
      </p:sp>
      <p:sp>
        <p:nvSpPr>
          <p:cNvPr id="5" name="TextBox 4"/>
          <p:cNvSpPr txBox="1"/>
          <p:nvPr/>
        </p:nvSpPr>
        <p:spPr>
          <a:xfrm>
            <a:off x="10515600" y="502920"/>
            <a:ext cx="914400" cy="365760"/>
          </a:xfrm>
          <a:prstGeom prst="rect">
            <a:avLst/>
          </a:prstGeom>
          <a:noFill/>
        </p:spPr>
        <p:txBody>
          <a:bodyPr wrap="square" lIns="0" rIns="0" tIns="0" bIns="0">
            <a:spAutoFit/>
          </a:bodyPr>
          <a:lstStyle/>
          <a:p>
            <a:pPr algn="r">
              <a:defRPr sz="1200" b="1">
                <a:solidFill>
                  <a:srgbClr val="64748B"/>
                </a:solidFill>
                <a:latin typeface="Segoe UI"/>
              </a:defRPr>
            </a:pPr>
            <a:r>
              <a:t>07 / 20</a:t>
            </a:r>
          </a:p>
        </p:txBody>
      </p:sp>
      <p:sp>
        <p:nvSpPr>
          <p:cNvPr id="6" name="Rounded Rectangle 5"/>
          <p:cNvSpPr/>
          <p:nvPr/>
        </p:nvSpPr>
        <p:spPr>
          <a:xfrm>
            <a:off x="731520" y="1280160"/>
            <a:ext cx="5166360" cy="475488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20"/>
            <a:ext cx="4709160" cy="4480560"/>
          </a:xfrm>
          <a:prstGeom prst="rect">
            <a:avLst/>
          </a:prstGeom>
          <a:noFill/>
        </p:spPr>
        <p:txBody>
          <a:bodyPr wrap="square">
            <a:spAutoFit/>
          </a:bodyPr>
          <a:lstStyle/>
          <a:p>
            <a:pPr algn="l">
              <a:spcAft>
                <a:spcPts val="600"/>
              </a:spcAft>
              <a:defRPr sz="1400" b="1">
                <a:solidFill>
                  <a:srgbClr val="DC2626"/>
                </a:solidFill>
                <a:latin typeface="Segoe UI"/>
              </a:defRPr>
            </a:pPr>
            <a:r>
              <a:t>THE CONCURRENCY HAZARD (NAIVE SYSTEM)</a:t>
            </a:r>
          </a:p>
          <a:p>
            <a:pPr algn="l">
              <a:spcAft>
                <a:spcPts val="100"/>
              </a:spcAft>
              <a:defRPr sz="1100" b="1">
                <a:solidFill>
                  <a:srgbClr val="DC2626"/>
                </a:solidFill>
                <a:latin typeface="Segoe UI"/>
              </a:defRPr>
            </a:pPr>
            <a:r>
              <a:t>• The Scenario:</a:t>
            </a:r>
          </a:p>
          <a:p>
            <a:pPr algn="l">
              <a:spcAft>
                <a:spcPts val="600"/>
              </a:spcAft>
              <a:defRPr sz="1000" b="0">
                <a:solidFill>
                  <a:srgbClr val="334155"/>
                </a:solidFill>
                <a:latin typeface="Segoe UI"/>
              </a:defRPr>
            </a:pPr>
            <a:r>
              <a:t>Only 2 seats remain. User A requests 2 seats. User B requests 2 seats. Both click 'Register' at the exact same millisecond.</a:t>
            </a:r>
          </a:p>
          <a:p>
            <a:pPr algn="l">
              <a:spcAft>
                <a:spcPts val="100"/>
              </a:spcAft>
              <a:defRPr sz="1100" b="1">
                <a:solidFill>
                  <a:srgbClr val="DC2626"/>
                </a:solidFill>
                <a:latin typeface="Segoe UI"/>
              </a:defRPr>
            </a:pPr>
            <a:r>
              <a:t>• Why It Happens:</a:t>
            </a:r>
          </a:p>
          <a:p>
            <a:pPr algn="l">
              <a:spcAft>
                <a:spcPts val="600"/>
              </a:spcAft>
              <a:defRPr sz="1000" b="0">
                <a:solidFill>
                  <a:srgbClr val="334155"/>
                </a:solidFill>
                <a:latin typeface="Segoe UI"/>
              </a:defRPr>
            </a:pPr>
            <a:r>
              <a:t>Without database-level synchronization, both transactions execute:</a:t>
            </a:r>
            <a:br/>
            <a:r>
              <a:t>`SELECT available_seats FROM events WHERE id=1;`</a:t>
            </a:r>
            <a:br/>
            <a:r>
              <a:t>Both read available = 2. Both checks (2 &gt;= 2) evaluate to TRUE!</a:t>
            </a:r>
          </a:p>
          <a:p>
            <a:pPr algn="l">
              <a:spcAft>
                <a:spcPts val="100"/>
              </a:spcAft>
              <a:defRPr sz="1100" b="1">
                <a:solidFill>
                  <a:srgbClr val="DC2626"/>
                </a:solidFill>
                <a:latin typeface="Segoe UI"/>
              </a:defRPr>
            </a:pPr>
            <a:r>
              <a:t>• The Result: Overbooking ❌:</a:t>
            </a:r>
          </a:p>
          <a:p>
            <a:pPr algn="l">
              <a:spcAft>
                <a:spcPts val="600"/>
              </a:spcAft>
              <a:defRPr sz="1000" b="0">
                <a:solidFill>
                  <a:srgbClr val="334155"/>
                </a:solidFill>
                <a:latin typeface="Segoe UI"/>
              </a:defRPr>
            </a:pPr>
            <a:r>
              <a:t>User A executes: `UPDATE events SET available_seats = 0;`</a:t>
            </a:r>
            <a:br/>
            <a:r>
              <a:t>User B executes: `UPDATE events SET available_seats = -2;`</a:t>
            </a:r>
            <a:br/>
            <a:r>
              <a:t>4 seats booked for 2 physical seats! Overbooking occurs, database constraint is violated, and customer trust is destroyed.</a:t>
            </a:r>
          </a:p>
        </p:txBody>
      </p:sp>
      <p:sp>
        <p:nvSpPr>
          <p:cNvPr id="8" name="Rounded Rectangle 7"/>
          <p:cNvSpPr/>
          <p:nvPr/>
        </p:nvSpPr>
        <p:spPr>
          <a:xfrm>
            <a:off x="6291072" y="1280160"/>
            <a:ext cx="5166360" cy="475488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417320"/>
            <a:ext cx="4709160" cy="4480560"/>
          </a:xfrm>
          <a:prstGeom prst="rect">
            <a:avLst/>
          </a:prstGeom>
          <a:noFill/>
        </p:spPr>
        <p:txBody>
          <a:bodyPr wrap="square">
            <a:spAutoFit/>
          </a:bodyPr>
          <a:lstStyle/>
          <a:p>
            <a:pPr algn="l">
              <a:spcAft>
                <a:spcPts val="600"/>
              </a:spcAft>
              <a:defRPr sz="1400" b="1">
                <a:solidFill>
                  <a:srgbClr val="16A34A"/>
                </a:solidFill>
                <a:latin typeface="Segoe UI"/>
              </a:defRPr>
            </a:pPr>
            <a:r>
              <a:t>SURGESHIELD SOLUTION: SELECT ... FOR UPDATE</a:t>
            </a:r>
          </a:p>
          <a:p>
            <a:pPr algn="l">
              <a:spcAft>
                <a:spcPts val="100"/>
              </a:spcAft>
              <a:defRPr sz="1100" b="1">
                <a:solidFill>
                  <a:srgbClr val="16A34A"/>
                </a:solidFill>
                <a:latin typeface="Segoe UI"/>
              </a:defRPr>
            </a:pPr>
            <a:r>
              <a:t>✓ Strict Serialization:</a:t>
            </a:r>
          </a:p>
          <a:p>
            <a:pPr algn="l">
              <a:spcAft>
                <a:spcPts val="500"/>
              </a:spcAft>
              <a:defRPr sz="1000" b="0">
                <a:solidFill>
                  <a:srgbClr val="334155"/>
                </a:solidFill>
                <a:latin typeface="Segoe UI"/>
              </a:defRPr>
            </a:pPr>
            <a:r>
              <a:t>User A enters transaction and locks the event row. User B is paused at the DB layer.</a:t>
            </a:r>
          </a:p>
          <a:p>
            <a:pPr algn="l">
              <a:spcAft>
                <a:spcPts val="100"/>
              </a:spcAft>
              <a:defRPr sz="1100" b="1">
                <a:solidFill>
                  <a:srgbClr val="16A34A"/>
                </a:solidFill>
                <a:latin typeface="Segoe UI"/>
              </a:defRPr>
            </a:pPr>
            <a:r>
              <a:t>✓ Clean Rejection (HTTP 409):</a:t>
            </a:r>
          </a:p>
          <a:p>
            <a:pPr algn="l">
              <a:spcAft>
                <a:spcPts val="500"/>
              </a:spcAft>
              <a:defRPr sz="1000" b="0">
                <a:solidFill>
                  <a:srgbClr val="334155"/>
                </a:solidFill>
                <a:latin typeface="Segoe UI"/>
              </a:defRPr>
            </a:pPr>
            <a:r>
              <a:t>User A books 2 seats (Remaining = 0). User B wakes up, reads updated seats = 0, and is cleanly rejected with HTTP 409!</a:t>
            </a:r>
          </a:p>
          <a:p>
            <a:pPr algn="l">
              <a:spcAft>
                <a:spcPts val="100"/>
              </a:spcAft>
              <a:defRPr sz="1100" b="1">
                <a:solidFill>
                  <a:srgbClr val="16A34A"/>
                </a:solidFill>
                <a:latin typeface="Segoe UI"/>
              </a:defRPr>
            </a:pPr>
            <a:r>
              <a:t>✓ What We Implemented:</a:t>
            </a:r>
          </a:p>
          <a:p>
            <a:pPr algn="l">
              <a:spcAft>
                <a:spcPts val="500"/>
              </a:spcAft>
              <a:defRPr sz="1000" b="0">
                <a:solidFill>
                  <a:srgbClr val="334155"/>
                </a:solidFill>
                <a:latin typeface="Segoe UI"/>
              </a:defRPr>
            </a:pPr>
            <a:r>
              <a:t>In `src/server.js`: Atomic `SELECT ... FOR UPDATE`, multi-ticket support (`quantity &gt;= 1`), and `CHECK(available_seats &gt;= 0)` constraint.</a:t>
            </a:r>
          </a:p>
        </p:txBody>
      </p:sp>
      <p:sp>
        <p:nvSpPr>
          <p:cNvPr id="10" name="Rounded Rectangle 9"/>
          <p:cNvSpPr/>
          <p:nvPr/>
        </p:nvSpPr>
        <p:spPr>
          <a:xfrm>
            <a:off x="6519672" y="1920240"/>
            <a:ext cx="4709160" cy="1097280"/>
          </a:xfrm>
          <a:prstGeom prst="roundRect">
            <a:avLst/>
          </a:prstGeom>
          <a:solidFill>
            <a:srgbClr val="FFFFFF"/>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965960"/>
            <a:ext cx="4572000" cy="1005840"/>
          </a:xfrm>
          <a:prstGeom prst="rect">
            <a:avLst/>
          </a:prstGeom>
          <a:noFill/>
        </p:spPr>
        <p:txBody>
          <a:bodyPr wrap="square">
            <a:spAutoFit/>
          </a:bodyPr>
          <a:lstStyle/>
          <a:p>
            <a:pPr algn="l">
              <a:spcAft>
                <a:spcPts val="200"/>
              </a:spcAft>
              <a:defRPr sz="1000" b="1">
                <a:solidFill>
                  <a:srgbClr val="16A34A"/>
                </a:solidFill>
                <a:latin typeface="Segoe UI"/>
              </a:defRPr>
            </a:pPr>
            <a:r>
              <a:t>VISUAL ROW-LOCKING PIPELINE:</a:t>
            </a:r>
          </a:p>
          <a:p>
            <a:pPr algn="l">
              <a:spcAft>
                <a:spcPts val="0"/>
              </a:spcAft>
              <a:defRPr sz="1000" b="1">
                <a:solidFill>
                  <a:srgbClr val="0F172A"/>
                </a:solidFill>
                <a:latin typeface="Segoe UI"/>
              </a:defRPr>
            </a:pPr>
            <a:r>
              <a:t>USER A ──────┐</a:t>
            </a:r>
            <a:br/>
            <a:r>
              <a:t>             ↓  Acquires Exclusive Row Lock</a:t>
            </a:r>
            <a:br/>
            <a:r>
              <a:t>        EVENT ROW 🔒 (PostgreSQL SELECT ... FOR UPDATE)</a:t>
            </a:r>
            <a:br/>
            <a:r>
              <a:t>             ↑  Blocked &amp; Queued until User A Commits</a:t>
            </a:r>
            <a:br/>
            <a:r>
              <a:t>USER B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000" b="1">
                <a:solidFill>
                  <a:srgbClr val="635BFF"/>
                </a:solidFill>
                <a:latin typeface="Segoe UI"/>
              </a:defRPr>
            </a:pPr>
            <a:r>
              <a:t>NETWORK RELIABILITY &amp; IDEMPOTENCY</a:t>
            </a:r>
          </a:p>
        </p:txBody>
      </p:sp>
      <p:sp>
        <p:nvSpPr>
          <p:cNvPr id="4" name="TextBox 3"/>
          <p:cNvSpPr txBox="1"/>
          <p:nvPr/>
        </p:nvSpPr>
        <p:spPr>
          <a:xfrm>
            <a:off x="731520" y="658368"/>
            <a:ext cx="9601200" cy="594360"/>
          </a:xfrm>
          <a:prstGeom prst="rect">
            <a:avLst/>
          </a:prstGeom>
          <a:noFill/>
        </p:spPr>
        <p:txBody>
          <a:bodyPr wrap="square" lIns="0" rIns="0" tIns="0" bIns="0">
            <a:spAutoFit/>
          </a:bodyPr>
          <a:lstStyle/>
          <a:p>
            <a:pPr>
              <a:defRPr sz="2100" b="1">
                <a:solidFill>
                  <a:srgbClr val="0F172A"/>
                </a:solidFill>
                <a:latin typeface="Segoe UI"/>
              </a:defRPr>
            </a:pPr>
            <a:r>
              <a:t>Problem 2: Duplicate Requests &amp; Network Retries</a:t>
            </a:r>
          </a:p>
        </p:txBody>
      </p:sp>
      <p:sp>
        <p:nvSpPr>
          <p:cNvPr id="5" name="TextBox 4"/>
          <p:cNvSpPr txBox="1"/>
          <p:nvPr/>
        </p:nvSpPr>
        <p:spPr>
          <a:xfrm>
            <a:off x="10515600" y="502920"/>
            <a:ext cx="914400" cy="365760"/>
          </a:xfrm>
          <a:prstGeom prst="rect">
            <a:avLst/>
          </a:prstGeom>
          <a:noFill/>
        </p:spPr>
        <p:txBody>
          <a:bodyPr wrap="square" lIns="0" rIns="0" tIns="0" bIns="0">
            <a:spAutoFit/>
          </a:bodyPr>
          <a:lstStyle/>
          <a:p>
            <a:pPr algn="r">
              <a:defRPr sz="1200" b="1">
                <a:solidFill>
                  <a:srgbClr val="64748B"/>
                </a:solidFill>
                <a:latin typeface="Segoe UI"/>
              </a:defRPr>
            </a:pPr>
            <a:r>
              <a:t>08 / 20</a:t>
            </a:r>
          </a:p>
        </p:txBody>
      </p:sp>
      <p:sp>
        <p:nvSpPr>
          <p:cNvPr id="6" name="Rounded Rectangle 5"/>
          <p:cNvSpPr/>
          <p:nvPr/>
        </p:nvSpPr>
        <p:spPr>
          <a:xfrm>
            <a:off x="731520" y="1280160"/>
            <a:ext cx="5166360" cy="475488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20"/>
            <a:ext cx="4709160" cy="4480560"/>
          </a:xfrm>
          <a:prstGeom prst="rect">
            <a:avLst/>
          </a:prstGeom>
          <a:noFill/>
        </p:spPr>
        <p:txBody>
          <a:bodyPr wrap="square">
            <a:spAutoFit/>
          </a:bodyPr>
          <a:lstStyle/>
          <a:p>
            <a:pPr algn="l">
              <a:spcAft>
                <a:spcPts val="600"/>
              </a:spcAft>
              <a:defRPr sz="1400" b="1">
                <a:solidFill>
                  <a:srgbClr val="DC2626"/>
                </a:solidFill>
                <a:latin typeface="Segoe UI"/>
              </a:defRPr>
            </a:pPr>
            <a:r>
              <a:t>THE DUPLICATE SUBMISSION HAZARD</a:t>
            </a:r>
          </a:p>
          <a:p>
            <a:pPr algn="l">
              <a:spcAft>
                <a:spcPts val="100"/>
              </a:spcAft>
              <a:defRPr sz="1100" b="1">
                <a:solidFill>
                  <a:srgbClr val="DC2626"/>
                </a:solidFill>
                <a:latin typeface="Segoe UI"/>
              </a:defRPr>
            </a:pPr>
            <a:r>
              <a:t>• The Story:</a:t>
            </a:r>
          </a:p>
          <a:p>
            <a:pPr algn="l">
              <a:spcAft>
                <a:spcPts val="600"/>
              </a:spcAft>
              <a:defRPr sz="1000" b="0">
                <a:solidFill>
                  <a:srgbClr val="334155"/>
                </a:solidFill>
                <a:latin typeface="Segoe UI"/>
              </a:defRPr>
            </a:pPr>
            <a:r>
              <a:t>A user clicks 'Register'. The mobile network connection stutters or lags. Anxious, the user clicks 'Register' again. Or the browser/mobile network silently auto-retries the exact same HTTP request.</a:t>
            </a:r>
          </a:p>
          <a:p>
            <a:pPr algn="l">
              <a:spcAft>
                <a:spcPts val="100"/>
              </a:spcAft>
              <a:defRPr sz="1100" b="1">
                <a:solidFill>
                  <a:srgbClr val="DC2626"/>
                </a:solidFill>
                <a:latin typeface="Segoe UI"/>
              </a:defRPr>
            </a:pPr>
            <a:r>
              <a:t>• Why It Happens:</a:t>
            </a:r>
          </a:p>
          <a:p>
            <a:pPr algn="l">
              <a:spcAft>
                <a:spcPts val="600"/>
              </a:spcAft>
              <a:defRPr sz="1000" b="0">
                <a:solidFill>
                  <a:srgbClr val="334155"/>
                </a:solidFill>
                <a:latin typeface="Segoe UI"/>
              </a:defRPr>
            </a:pPr>
            <a:r>
              <a:t>Without idempotency protection, the backend treats both network packets as two completely separate registration requests.</a:t>
            </a:r>
          </a:p>
          <a:p>
            <a:pPr algn="l">
              <a:spcAft>
                <a:spcPts val="100"/>
              </a:spcAft>
              <a:defRPr sz="1100" b="1">
                <a:solidFill>
                  <a:srgbClr val="DC2626"/>
                </a:solidFill>
                <a:latin typeface="Segoe UI"/>
              </a:defRPr>
            </a:pPr>
            <a:r>
              <a:t>• The Result ❌:</a:t>
            </a:r>
          </a:p>
          <a:p>
            <a:pPr algn="l">
              <a:spcAft>
                <a:spcPts val="600"/>
              </a:spcAft>
              <a:defRPr sz="1000" b="0">
                <a:solidFill>
                  <a:srgbClr val="334155"/>
                </a:solidFill>
                <a:latin typeface="Segoe UI"/>
              </a:defRPr>
            </a:pPr>
            <a:r>
              <a:t>Two registrations are created for the same person, double-charging them or deducting two seats instead of one. Available seats are incorrectly consumed by ghost bookings.</a:t>
            </a:r>
          </a:p>
        </p:txBody>
      </p:sp>
      <p:sp>
        <p:nvSpPr>
          <p:cNvPr id="8" name="Rounded Rectangle 7"/>
          <p:cNvSpPr/>
          <p:nvPr/>
        </p:nvSpPr>
        <p:spPr>
          <a:xfrm>
            <a:off x="6291072" y="1280160"/>
            <a:ext cx="5166360" cy="475488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417320"/>
            <a:ext cx="4709160" cy="4480560"/>
          </a:xfrm>
          <a:prstGeom prst="rect">
            <a:avLst/>
          </a:prstGeom>
          <a:noFill/>
        </p:spPr>
        <p:txBody>
          <a:bodyPr wrap="square">
            <a:spAutoFit/>
          </a:bodyPr>
          <a:lstStyle/>
          <a:p>
            <a:pPr algn="l">
              <a:spcAft>
                <a:spcPts val="600"/>
              </a:spcAft>
              <a:defRPr sz="1400" b="1">
                <a:solidFill>
                  <a:srgbClr val="16A34A"/>
                </a:solidFill>
                <a:latin typeface="Segoe UI"/>
              </a:defRPr>
            </a:pPr>
            <a:r>
              <a:t>SURGESHIELD SOLUTION: IDEMPOTENCY KEY</a:t>
            </a:r>
          </a:p>
          <a:p>
            <a:pPr algn="l">
              <a:spcAft>
                <a:spcPts val="100"/>
              </a:spcAft>
              <a:defRPr sz="1100" b="1">
                <a:solidFill>
                  <a:srgbClr val="16A34A"/>
                </a:solidFill>
                <a:latin typeface="Segoe UI"/>
              </a:defRPr>
            </a:pPr>
            <a:r>
              <a:t>✓ Client-Side UUID Header:</a:t>
            </a:r>
          </a:p>
          <a:p>
            <a:pPr algn="l">
              <a:spcAft>
                <a:spcPts val="500"/>
              </a:spcAft>
              <a:defRPr sz="1000" b="0">
                <a:solidFill>
                  <a:srgbClr val="334155"/>
                </a:solidFill>
                <a:latin typeface="Segoe UI"/>
              </a:defRPr>
            </a:pPr>
            <a:r>
              <a:t>Client UI generates unique `Idempotency-Key` header with each submission.</a:t>
            </a:r>
          </a:p>
          <a:p>
            <a:pPr algn="l">
              <a:spcAft>
                <a:spcPts val="100"/>
              </a:spcAft>
              <a:defRPr sz="1100" b="1">
                <a:solidFill>
                  <a:srgbClr val="16A34A"/>
                </a:solidFill>
                <a:latin typeface="Segoe UI"/>
              </a:defRPr>
            </a:pPr>
            <a:r>
              <a:t>✓ Fast Pre-Flight Replay:</a:t>
            </a:r>
          </a:p>
          <a:p>
            <a:pPr algn="l">
              <a:spcAft>
                <a:spcPts val="500"/>
              </a:spcAft>
              <a:defRPr sz="1000" b="0">
                <a:solidFill>
                  <a:srgbClr val="334155"/>
                </a:solidFill>
                <a:latin typeface="Segoe UI"/>
              </a:defRPr>
            </a:pPr>
            <a:r>
              <a:t>Server checks `registrations` table first. If key already exists, immediately returns `{ replayed: true }`. Zero seats deducted!</a:t>
            </a:r>
          </a:p>
          <a:p>
            <a:pPr algn="l">
              <a:spcAft>
                <a:spcPts val="100"/>
              </a:spcAft>
              <a:defRPr sz="1100" b="1">
                <a:solidFill>
                  <a:srgbClr val="16A34A"/>
                </a:solidFill>
                <a:latin typeface="Segoe UI"/>
              </a:defRPr>
            </a:pPr>
            <a:r>
              <a:t>✓ What We Implemented:</a:t>
            </a:r>
          </a:p>
          <a:p>
            <a:pPr algn="l">
              <a:spcAft>
                <a:spcPts val="500"/>
              </a:spcAft>
              <a:defRPr sz="1000" b="0">
                <a:solidFill>
                  <a:srgbClr val="334155"/>
                </a:solidFill>
                <a:latin typeface="Segoe UI"/>
              </a:defRPr>
            </a:pPr>
            <a:r>
              <a:t>Database constraint `UNIQUE(event_id, idempotency_key)` guarantees that even parallel retries are caught safely with zero seat loss.</a:t>
            </a:r>
          </a:p>
        </p:txBody>
      </p:sp>
      <p:sp>
        <p:nvSpPr>
          <p:cNvPr id="10" name="Rounded Rectangle 9"/>
          <p:cNvSpPr/>
          <p:nvPr/>
        </p:nvSpPr>
        <p:spPr>
          <a:xfrm>
            <a:off x="6519672" y="1920240"/>
            <a:ext cx="4709160" cy="1097280"/>
          </a:xfrm>
          <a:prstGeom prst="roundRect">
            <a:avLst/>
          </a:prstGeom>
          <a:solidFill>
            <a:srgbClr val="FFFFFF"/>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965960"/>
            <a:ext cx="4572000" cy="1005840"/>
          </a:xfrm>
          <a:prstGeom prst="rect">
            <a:avLst/>
          </a:prstGeom>
          <a:noFill/>
        </p:spPr>
        <p:txBody>
          <a:bodyPr wrap="square">
            <a:spAutoFit/>
          </a:bodyPr>
          <a:lstStyle/>
          <a:p>
            <a:pPr algn="l">
              <a:spcAft>
                <a:spcPts val="200"/>
              </a:spcAft>
              <a:defRPr sz="1000" b="1">
                <a:solidFill>
                  <a:srgbClr val="16A34A"/>
                </a:solidFill>
                <a:latin typeface="Segoe UI"/>
              </a:defRPr>
            </a:pPr>
            <a:r>
              <a:t>VISUAL IDEMPOTENCY PIPELINE:</a:t>
            </a:r>
          </a:p>
          <a:p>
            <a:pPr algn="l">
              <a:spcAft>
                <a:spcPts val="0"/>
              </a:spcAft>
              <a:defRPr sz="1000" b="1">
                <a:solidFill>
                  <a:srgbClr val="0F172A"/>
                </a:solidFill>
                <a:latin typeface="Segoe UI"/>
              </a:defRPr>
            </a:pPr>
            <a:r>
              <a:t>Request A (Key: UUID-1) ────────┐</a:t>
            </a:r>
            <a:br/>
            <a:r>
              <a:t>                                 ↓</a:t>
            </a:r>
            <a:br/>
            <a:r>
              <a:t>Retry Request A (Key: UUID-1) ──→ IDEMPOTENCY ENGINE ──→ Single Booking Created</a:t>
            </a:r>
            <a:br/>
            <a:r>
              <a:t>                                                         (2nd Request: Safe Replay)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000" b="1">
                <a:solidFill>
                  <a:srgbClr val="635BFF"/>
                </a:solidFill>
                <a:latin typeface="Segoe UI"/>
              </a:defRPr>
            </a:pPr>
            <a:r>
              <a:t>ASYNCHRONOUS PROCESSING &amp; DECOUPLING</a:t>
            </a:r>
          </a:p>
        </p:txBody>
      </p:sp>
      <p:sp>
        <p:nvSpPr>
          <p:cNvPr id="4" name="TextBox 3"/>
          <p:cNvSpPr txBox="1"/>
          <p:nvPr/>
        </p:nvSpPr>
        <p:spPr>
          <a:xfrm>
            <a:off x="731520" y="658368"/>
            <a:ext cx="9601200" cy="594360"/>
          </a:xfrm>
          <a:prstGeom prst="rect">
            <a:avLst/>
          </a:prstGeom>
          <a:noFill/>
        </p:spPr>
        <p:txBody>
          <a:bodyPr wrap="square" lIns="0" rIns="0" tIns="0" bIns="0">
            <a:spAutoFit/>
          </a:bodyPr>
          <a:lstStyle/>
          <a:p>
            <a:pPr>
              <a:defRPr sz="2100" b="1">
                <a:solidFill>
                  <a:srgbClr val="0F172A"/>
                </a:solidFill>
                <a:latin typeface="Segoe UI"/>
              </a:defRPr>
            </a:pPr>
            <a:r>
              <a:t>Problem 3: Slow Synchronous Processing &amp; Bottlenecks</a:t>
            </a:r>
          </a:p>
        </p:txBody>
      </p:sp>
      <p:sp>
        <p:nvSpPr>
          <p:cNvPr id="5" name="TextBox 4"/>
          <p:cNvSpPr txBox="1"/>
          <p:nvPr/>
        </p:nvSpPr>
        <p:spPr>
          <a:xfrm>
            <a:off x="10515600" y="502920"/>
            <a:ext cx="914400" cy="365760"/>
          </a:xfrm>
          <a:prstGeom prst="rect">
            <a:avLst/>
          </a:prstGeom>
          <a:noFill/>
        </p:spPr>
        <p:txBody>
          <a:bodyPr wrap="square" lIns="0" rIns="0" tIns="0" bIns="0">
            <a:spAutoFit/>
          </a:bodyPr>
          <a:lstStyle/>
          <a:p>
            <a:pPr algn="r">
              <a:defRPr sz="1200" b="1">
                <a:solidFill>
                  <a:srgbClr val="64748B"/>
                </a:solidFill>
                <a:latin typeface="Segoe UI"/>
              </a:defRPr>
            </a:pPr>
            <a:r>
              <a:t>09 / 20</a:t>
            </a:r>
          </a:p>
        </p:txBody>
      </p:sp>
      <p:sp>
        <p:nvSpPr>
          <p:cNvPr id="6" name="Rounded Rectangle 5"/>
          <p:cNvSpPr/>
          <p:nvPr/>
        </p:nvSpPr>
        <p:spPr>
          <a:xfrm>
            <a:off x="731520" y="1280160"/>
            <a:ext cx="10725912" cy="201168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10360152" cy="1828800"/>
          </a:xfrm>
          <a:prstGeom prst="rect">
            <a:avLst/>
          </a:prstGeom>
          <a:noFill/>
        </p:spPr>
        <p:txBody>
          <a:bodyPr wrap="square">
            <a:spAutoFit/>
          </a:bodyPr>
          <a:lstStyle/>
          <a:p>
            <a:pPr algn="l">
              <a:spcAft>
                <a:spcPts val="400"/>
              </a:spcAft>
              <a:defRPr sz="1300" b="1">
                <a:solidFill>
                  <a:srgbClr val="DC2626"/>
                </a:solidFill>
                <a:latin typeface="Segoe UI"/>
              </a:defRPr>
            </a:pPr>
            <a:r>
              <a:t>NAIVE SYNCHRONOUS FLOW: THE BLOCKING EMAIL TRAP (2-3s DELAY)</a:t>
            </a:r>
          </a:p>
          <a:p>
            <a:pPr algn="l">
              <a:spcAft>
                <a:spcPts val="400"/>
              </a:spcAft>
              <a:defRPr sz="1100" b="1">
                <a:solidFill>
                  <a:srgbClr val="0F172A"/>
                </a:solidFill>
                <a:latin typeface="Segoe UI"/>
              </a:defRPr>
            </a:pPr>
            <a:r>
              <a:t>Registration Request  →  Save to DB  →  Send Email/SMS (External API: 2000ms delay)  →  Wait...  →  HTTP Response to User</a:t>
            </a:r>
          </a:p>
          <a:p>
            <a:pPr algn="l">
              <a:spcAft>
                <a:spcPts val="0"/>
              </a:spcAft>
              <a:defRPr sz="1000" b="0">
                <a:solidFill>
                  <a:srgbClr val="334155"/>
                </a:solidFill>
                <a:latin typeface="Segoe UI"/>
              </a:defRPr>
            </a:pPr>
            <a:r>
              <a:t>The Flaw: The user is forced to wait for work that does not need to happen inside the main request. During surges, web threads choke waiting for slow 3rd-party email APIs, causing cascading timeouts for all users.</a:t>
            </a:r>
          </a:p>
        </p:txBody>
      </p:sp>
      <p:sp>
        <p:nvSpPr>
          <p:cNvPr id="8" name="Rounded Rectangle 7"/>
          <p:cNvSpPr/>
          <p:nvPr/>
        </p:nvSpPr>
        <p:spPr>
          <a:xfrm>
            <a:off x="731520" y="3474720"/>
            <a:ext cx="10725912" cy="256032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566160"/>
            <a:ext cx="10360152" cy="2377440"/>
          </a:xfrm>
          <a:prstGeom prst="rect">
            <a:avLst/>
          </a:prstGeom>
          <a:noFill/>
        </p:spPr>
        <p:txBody>
          <a:bodyPr wrap="square">
            <a:spAutoFit/>
          </a:bodyPr>
          <a:lstStyle/>
          <a:p>
            <a:pPr algn="l">
              <a:spcAft>
                <a:spcPts val="400"/>
              </a:spcAft>
              <a:defRPr sz="1300" b="1">
                <a:solidFill>
                  <a:srgbClr val="16A34A"/>
                </a:solidFill>
                <a:latin typeface="Segoe UI"/>
              </a:defRPr>
            </a:pPr>
            <a:r>
              <a:t>SURGESHIELD SOLUTION: DECOUPLED ASYNC PIPELINE (&lt;15ms RESPONSE)</a:t>
            </a:r>
          </a:p>
          <a:p>
            <a:pPr algn="l">
              <a:spcAft>
                <a:spcPts val="300"/>
              </a:spcAft>
              <a:defRPr sz="1100" b="1">
                <a:solidFill>
                  <a:srgbClr val="0F172A"/>
                </a:solidFill>
                <a:latin typeface="Segoe UI"/>
              </a:defRPr>
            </a:pPr>
            <a:r>
              <a:t>1. Fast Critical Path (&lt;15ms):  Registration  →  PostgreSQL Row Lock  →  Insert Outbox (PENDING)  →  BullMQ Enqueue  →  Immediate HTTP 201!</a:t>
            </a:r>
          </a:p>
          <a:p>
            <a:pPr algn="l">
              <a:spcAft>
                <a:spcPts val="500"/>
              </a:spcAft>
              <a:defRPr sz="1100" b="1">
                <a:solidFill>
                  <a:srgbClr val="2563EB"/>
                </a:solidFill>
                <a:latin typeface="Segoe UI"/>
              </a:defRPr>
            </a:pPr>
            <a:r>
              <a:t>2. Decoupled Background Path:   BullMQ / Redis Broker  →  Background Worker (800ms)  →  Outbox Updated to 'SENT'</a:t>
            </a:r>
          </a:p>
          <a:p>
            <a:pPr algn="l">
              <a:spcAft>
                <a:spcPts val="0"/>
              </a:spcAft>
              <a:defRPr sz="1000" b="0">
                <a:solidFill>
                  <a:srgbClr val="334155"/>
                </a:solidFill>
                <a:latin typeface="Segoe UI"/>
              </a:defRPr>
            </a:pPr>
            <a:r>
              <a:t>Core Principle: "Registration is the critical path. Notification processing is moved to the background."</a:t>
            </a:r>
            <a:br/>
            <a:r>
              <a:t>What We Implemented: BullMQ 5 queue backed by Redis 7 AOF persistence + PostgreSQL transactional outbox pattern + dedicated worker container.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000" b="1">
                <a:solidFill>
                  <a:srgbClr val="635BFF"/>
                </a:solidFill>
                <a:latin typeface="Segoe UI"/>
              </a:defRPr>
            </a:pPr>
            <a:r>
              <a:t>HORIZONTAL LOAD BALANCING &amp; FAILOVER</a:t>
            </a:r>
          </a:p>
        </p:txBody>
      </p:sp>
      <p:sp>
        <p:nvSpPr>
          <p:cNvPr id="4" name="TextBox 3"/>
          <p:cNvSpPr txBox="1"/>
          <p:nvPr/>
        </p:nvSpPr>
        <p:spPr>
          <a:xfrm>
            <a:off x="731520" y="658368"/>
            <a:ext cx="9601200" cy="594360"/>
          </a:xfrm>
          <a:prstGeom prst="rect">
            <a:avLst/>
          </a:prstGeom>
          <a:noFill/>
        </p:spPr>
        <p:txBody>
          <a:bodyPr wrap="square" lIns="0" rIns="0" tIns="0" bIns="0">
            <a:spAutoFit/>
          </a:bodyPr>
          <a:lstStyle/>
          <a:p>
            <a:pPr>
              <a:defRPr sz="2100" b="1">
                <a:solidFill>
                  <a:srgbClr val="0F172A"/>
                </a:solidFill>
                <a:latin typeface="Segoe UI"/>
              </a:defRPr>
            </a:pPr>
            <a:r>
              <a:t>Problem 4: Traffic Overload &amp; Single-Server Saturation</a:t>
            </a:r>
          </a:p>
        </p:txBody>
      </p:sp>
      <p:sp>
        <p:nvSpPr>
          <p:cNvPr id="5" name="TextBox 4"/>
          <p:cNvSpPr txBox="1"/>
          <p:nvPr/>
        </p:nvSpPr>
        <p:spPr>
          <a:xfrm>
            <a:off x="10515600" y="502920"/>
            <a:ext cx="914400" cy="365760"/>
          </a:xfrm>
          <a:prstGeom prst="rect">
            <a:avLst/>
          </a:prstGeom>
          <a:noFill/>
        </p:spPr>
        <p:txBody>
          <a:bodyPr wrap="square" lIns="0" rIns="0" tIns="0" bIns="0">
            <a:spAutoFit/>
          </a:bodyPr>
          <a:lstStyle/>
          <a:p>
            <a:pPr algn="r">
              <a:defRPr sz="1200" b="1">
                <a:solidFill>
                  <a:srgbClr val="64748B"/>
                </a:solidFill>
                <a:latin typeface="Segoe UI"/>
              </a:defRPr>
            </a:pPr>
            <a:r>
              <a:t>10 / 20</a:t>
            </a:r>
          </a:p>
        </p:txBody>
      </p:sp>
      <p:sp>
        <p:nvSpPr>
          <p:cNvPr id="6" name="Rounded Rectangle 5"/>
          <p:cNvSpPr/>
          <p:nvPr/>
        </p:nvSpPr>
        <p:spPr>
          <a:xfrm>
            <a:off x="731520" y="1280160"/>
            <a:ext cx="5166360" cy="475488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20"/>
            <a:ext cx="4709160" cy="4480560"/>
          </a:xfrm>
          <a:prstGeom prst="rect">
            <a:avLst/>
          </a:prstGeom>
          <a:noFill/>
        </p:spPr>
        <p:txBody>
          <a:bodyPr wrap="square">
            <a:spAutoFit/>
          </a:bodyPr>
          <a:lstStyle/>
          <a:p>
            <a:pPr algn="l">
              <a:spcAft>
                <a:spcPts val="800"/>
              </a:spcAft>
              <a:defRPr sz="1400" b="1">
                <a:solidFill>
                  <a:srgbClr val="DC2626"/>
                </a:solidFill>
                <a:latin typeface="Segoe UI"/>
              </a:defRPr>
            </a:pPr>
            <a:r>
              <a:t>THE SINGLE-SERVER SATURATION HAZARD</a:t>
            </a:r>
          </a:p>
          <a:p>
            <a:pPr algn="l">
              <a:spcAft>
                <a:spcPts val="800"/>
              </a:spcAft>
              <a:defRPr sz="1100" b="1">
                <a:solidFill>
                  <a:srgbClr val="DC2626"/>
                </a:solidFill>
                <a:latin typeface="Segoe UI"/>
              </a:defRPr>
            </a:pPr>
            <a:r>
              <a:t>MANY CONCURRENT USERS</a:t>
            </a:r>
            <a:br/>
            <a:r>
              <a:t>        ↓</a:t>
            </a:r>
            <a:br/>
            <a:r>
              <a:t>Single Web Server ❌</a:t>
            </a:r>
            <a:br/>
            <a:r>
              <a:t>        ↓</a:t>
            </a:r>
            <a:br/>
            <a:r>
              <a:t>100% CPU Saturation &amp; Memory OOM</a:t>
            </a:r>
            <a:br/>
            <a:r>
              <a:t>        ↓</a:t>
            </a:r>
            <a:br/>
            <a:r>
              <a:t>SERVER CRASH &amp; TOTAL SERVICE OUTAGE</a:t>
            </a:r>
          </a:p>
          <a:p>
            <a:pPr algn="l">
              <a:spcAft>
                <a:spcPts val="100"/>
              </a:spcAft>
              <a:defRPr sz="1100" b="1">
                <a:solidFill>
                  <a:srgbClr val="DC2626"/>
                </a:solidFill>
                <a:latin typeface="Segoe UI"/>
              </a:defRPr>
            </a:pPr>
            <a:r>
              <a:t>• Single Point of Failure (SPOF):</a:t>
            </a:r>
          </a:p>
          <a:p>
            <a:pPr algn="l">
              <a:spcAft>
                <a:spcPts val="600"/>
              </a:spcAft>
              <a:defRPr sz="1000" b="0">
                <a:solidFill>
                  <a:srgbClr val="334155"/>
                </a:solidFill>
                <a:latin typeface="Segoe UI"/>
              </a:defRPr>
            </a:pPr>
            <a:r>
              <a:t>When one server handles routing, auth, business logic, and database access, its crash terminates 100% of user traffic.</a:t>
            </a:r>
          </a:p>
          <a:p>
            <a:pPr algn="l">
              <a:spcAft>
                <a:spcPts val="100"/>
              </a:spcAft>
              <a:defRPr sz="1100" b="1">
                <a:solidFill>
                  <a:srgbClr val="DC2626"/>
                </a:solidFill>
                <a:latin typeface="Segoe UI"/>
              </a:defRPr>
            </a:pPr>
            <a:r>
              <a:t>• Zero Burst Cushioning:</a:t>
            </a:r>
          </a:p>
          <a:p>
            <a:pPr algn="l">
              <a:spcAft>
                <a:spcPts val="600"/>
              </a:spcAft>
              <a:defRPr sz="1000" b="0">
                <a:solidFill>
                  <a:srgbClr val="334155"/>
                </a:solidFill>
                <a:latin typeface="Segoe UI"/>
              </a:defRPr>
            </a:pPr>
            <a:r>
              <a:t>Incoming surges directly saturate the server's network socket queue.</a:t>
            </a:r>
          </a:p>
        </p:txBody>
      </p:sp>
      <p:sp>
        <p:nvSpPr>
          <p:cNvPr id="8" name="Rounded Rectangle 7"/>
          <p:cNvSpPr/>
          <p:nvPr/>
        </p:nvSpPr>
        <p:spPr>
          <a:xfrm>
            <a:off x="6291072" y="1280160"/>
            <a:ext cx="5166360" cy="475488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417320"/>
            <a:ext cx="4709160" cy="4480560"/>
          </a:xfrm>
          <a:prstGeom prst="rect">
            <a:avLst/>
          </a:prstGeom>
          <a:noFill/>
        </p:spPr>
        <p:txBody>
          <a:bodyPr wrap="square">
            <a:spAutoFit/>
          </a:bodyPr>
          <a:lstStyle/>
          <a:p>
            <a:pPr algn="l">
              <a:spcAft>
                <a:spcPts val="800"/>
              </a:spcAft>
              <a:defRPr sz="1400" b="1">
                <a:solidFill>
                  <a:srgbClr val="16A34A"/>
                </a:solidFill>
                <a:latin typeface="Segoe UI"/>
              </a:defRPr>
            </a:pPr>
            <a:r>
              <a:t>SURGESHIELD SOLUTION: NGINX CLUSTER</a:t>
            </a:r>
          </a:p>
          <a:p>
            <a:pPr algn="l">
              <a:spcAft>
                <a:spcPts val="800"/>
              </a:spcAft>
              <a:defRPr sz="1100" b="1">
                <a:solidFill>
                  <a:srgbClr val="2563EB"/>
                </a:solidFill>
                <a:latin typeface="Segoe UI"/>
              </a:defRPr>
            </a:pPr>
            <a:r>
              <a:t>MANY CONCURRENT USERS</a:t>
            </a:r>
            <a:br/>
            <a:r>
              <a:t>        ↓</a:t>
            </a:r>
            <a:br/>
            <a:r>
              <a:t>NGINX Reverse Proxy (:8080)</a:t>
            </a:r>
            <a:br/>
            <a:r>
              <a:t>  /         |         \</a:t>
            </a:r>
            <a:br/>
            <a:r>
              <a:t>API 1     API 2     API 3</a:t>
            </a:r>
            <a:br/>
            <a:r>
              <a:t>(Served by: app1, app2, app3)</a:t>
            </a:r>
          </a:p>
          <a:p>
            <a:pPr algn="l">
              <a:spcAft>
                <a:spcPts val="100"/>
              </a:spcAft>
              <a:defRPr sz="1100" b="1">
                <a:solidFill>
                  <a:srgbClr val="16A34A"/>
                </a:solidFill>
                <a:latin typeface="Segoe UI"/>
              </a:defRPr>
            </a:pPr>
            <a:r>
              <a:t>✓ Nginx L7 Round-Robin:</a:t>
            </a:r>
          </a:p>
          <a:p>
            <a:pPr algn="l">
              <a:spcAft>
                <a:spcPts val="600"/>
              </a:spcAft>
              <a:defRPr sz="1000" b="0">
                <a:solidFill>
                  <a:srgbClr val="334155"/>
                </a:solidFill>
                <a:latin typeface="Segoe UI"/>
              </a:defRPr>
            </a:pPr>
            <a:r>
              <a:t>Distributes requests evenly across 3 stateless Node.js containers.</a:t>
            </a:r>
          </a:p>
          <a:p>
            <a:pPr algn="l">
              <a:spcAft>
                <a:spcPts val="100"/>
              </a:spcAft>
              <a:defRPr sz="1100" b="1">
                <a:solidFill>
                  <a:srgbClr val="16A34A"/>
                </a:solidFill>
                <a:latin typeface="Segoe UI"/>
              </a:defRPr>
            </a:pPr>
            <a:r>
              <a:t>✓ Edge Rate Limiting:</a:t>
            </a:r>
          </a:p>
          <a:p>
            <a:pPr algn="l">
              <a:spcAft>
                <a:spcPts val="600"/>
              </a:spcAft>
              <a:defRPr sz="1000" b="0">
                <a:solidFill>
                  <a:srgbClr val="334155"/>
                </a:solidFill>
                <a:latin typeface="Segoe UI"/>
              </a:defRPr>
            </a:pPr>
            <a:r>
              <a:t>Nginx token-bucket drops malicious DDoS (20 r/s burst 40) before reaching Node.js.</a:t>
            </a:r>
          </a:p>
          <a:p>
            <a:pPr algn="l">
              <a:spcAft>
                <a:spcPts val="100"/>
              </a:spcAft>
              <a:defRPr sz="1100" b="1">
                <a:solidFill>
                  <a:srgbClr val="16A34A"/>
                </a:solidFill>
                <a:latin typeface="Segoe UI"/>
              </a:defRPr>
            </a:pPr>
            <a:r>
              <a:t>✓ Demonstrable Verification:</a:t>
            </a:r>
          </a:p>
          <a:p>
            <a:pPr algn="l">
              <a:spcAft>
                <a:spcPts val="600"/>
              </a:spcAft>
              <a:defRPr sz="1000" b="0">
                <a:solidFill>
                  <a:srgbClr val="334155"/>
                </a:solidFill>
                <a:latin typeface="Segoe UI"/>
              </a:defRPr>
            </a:pPr>
            <a:r>
              <a:t>Every response exposes `servedBy` and `X-Served-By` headers to prove load distribution.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000" b="1">
                <a:solidFill>
                  <a:srgbClr val="635BFF"/>
                </a:solidFill>
                <a:latin typeface="Segoe UI"/>
              </a:defRPr>
            </a:pPr>
            <a:r>
              <a:t>FAULT TOLERANCE &amp; CRASH RECOVERY</a:t>
            </a:r>
          </a:p>
        </p:txBody>
      </p:sp>
      <p:sp>
        <p:nvSpPr>
          <p:cNvPr id="4" name="TextBox 3"/>
          <p:cNvSpPr txBox="1"/>
          <p:nvPr/>
        </p:nvSpPr>
        <p:spPr>
          <a:xfrm>
            <a:off x="731520" y="658368"/>
            <a:ext cx="9601200" cy="594360"/>
          </a:xfrm>
          <a:prstGeom prst="rect">
            <a:avLst/>
          </a:prstGeom>
          <a:noFill/>
        </p:spPr>
        <p:txBody>
          <a:bodyPr wrap="square" lIns="0" rIns="0" tIns="0" bIns="0">
            <a:spAutoFit/>
          </a:bodyPr>
          <a:lstStyle/>
          <a:p>
            <a:pPr>
              <a:defRPr sz="2100" b="1">
                <a:solidFill>
                  <a:srgbClr val="0F172A"/>
                </a:solidFill>
                <a:latin typeface="Segoe UI"/>
              </a:defRPr>
            </a:pPr>
            <a:r>
              <a:t>Problem 5: Component Failure &amp; Queue Self-Healing</a:t>
            </a:r>
          </a:p>
        </p:txBody>
      </p:sp>
      <p:sp>
        <p:nvSpPr>
          <p:cNvPr id="5" name="TextBox 4"/>
          <p:cNvSpPr txBox="1"/>
          <p:nvPr/>
        </p:nvSpPr>
        <p:spPr>
          <a:xfrm>
            <a:off x="10515600" y="502920"/>
            <a:ext cx="914400" cy="365760"/>
          </a:xfrm>
          <a:prstGeom prst="rect">
            <a:avLst/>
          </a:prstGeom>
          <a:noFill/>
        </p:spPr>
        <p:txBody>
          <a:bodyPr wrap="square" lIns="0" rIns="0" tIns="0" bIns="0">
            <a:spAutoFit/>
          </a:bodyPr>
          <a:lstStyle/>
          <a:p>
            <a:pPr algn="r">
              <a:defRPr sz="1200" b="1">
                <a:solidFill>
                  <a:srgbClr val="64748B"/>
                </a:solidFill>
                <a:latin typeface="Segoe UI"/>
              </a:defRPr>
            </a:pPr>
            <a:r>
              <a:t>11 / 20</a:t>
            </a:r>
          </a:p>
        </p:txBody>
      </p:sp>
      <p:sp>
        <p:nvSpPr>
          <p:cNvPr id="6" name="Rounded Rectangle 5"/>
          <p:cNvSpPr/>
          <p:nvPr/>
        </p:nvSpPr>
        <p:spPr>
          <a:xfrm>
            <a:off x="731520" y="1371600"/>
            <a:ext cx="3364992" cy="393192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554480"/>
            <a:ext cx="2999232" cy="34747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100" b="1">
                <a:solidFill>
                  <a:srgbClr val="FFFFFF"/>
                </a:solidFill>
                <a:latin typeface="Segoe UI"/>
              </a:defRPr>
            </a:pPr>
            <a:r>
              <a:t>STAGE 1: WORKER DIES</a:t>
            </a:r>
          </a:p>
        </p:txBody>
      </p:sp>
      <p:sp>
        <p:nvSpPr>
          <p:cNvPr id="8" name="TextBox 7"/>
          <p:cNvSpPr txBox="1"/>
          <p:nvPr/>
        </p:nvSpPr>
        <p:spPr>
          <a:xfrm>
            <a:off x="914400" y="2103120"/>
            <a:ext cx="2999232" cy="3108960"/>
          </a:xfrm>
          <a:prstGeom prst="rect">
            <a:avLst/>
          </a:prstGeom>
          <a:noFill/>
        </p:spPr>
        <p:txBody>
          <a:bodyPr wrap="square">
            <a:spAutoFit/>
          </a:bodyPr>
          <a:lstStyle/>
          <a:p>
            <a:pPr algn="l">
              <a:spcAft>
                <a:spcPts val="0"/>
              </a:spcAft>
              <a:defRPr sz="1100" b="0">
                <a:solidFill>
                  <a:srgbClr val="334155"/>
                </a:solidFill>
                <a:latin typeface="Segoe UI"/>
              </a:defRPr>
            </a:pPr>
            <a:r>
              <a:t>Background worker process crashes or is stopped (`docker compose stop worker`).</a:t>
            </a:r>
            <a:br/>
            <a:br/>
            <a:r>
              <a:t>API continues running normally! PostgreSQL commits bookings. Redis safely buffers queued jobs in memory &amp; disk (`appendonly yes`).</a:t>
            </a:r>
          </a:p>
        </p:txBody>
      </p:sp>
      <p:sp>
        <p:nvSpPr>
          <p:cNvPr id="9" name="Rounded Rectangle 8"/>
          <p:cNvSpPr/>
          <p:nvPr/>
        </p:nvSpPr>
        <p:spPr>
          <a:xfrm>
            <a:off x="4407407" y="1371600"/>
            <a:ext cx="3364992" cy="3931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90287" y="1554480"/>
            <a:ext cx="2999232"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100" b="1">
                <a:solidFill>
                  <a:srgbClr val="FFFFFF"/>
                </a:solidFill>
                <a:latin typeface="Segoe UI"/>
              </a:defRPr>
            </a:pPr>
            <a:r>
              <a:t>STAGE 2: HEALTH DETECTION</a:t>
            </a:r>
          </a:p>
        </p:txBody>
      </p:sp>
      <p:sp>
        <p:nvSpPr>
          <p:cNvPr id="11" name="TextBox 10"/>
          <p:cNvSpPr txBox="1"/>
          <p:nvPr/>
        </p:nvSpPr>
        <p:spPr>
          <a:xfrm>
            <a:off x="4590287" y="2103120"/>
            <a:ext cx="2999232" cy="3108960"/>
          </a:xfrm>
          <a:prstGeom prst="rect">
            <a:avLst/>
          </a:prstGeom>
          <a:noFill/>
        </p:spPr>
        <p:txBody>
          <a:bodyPr wrap="square">
            <a:spAutoFit/>
          </a:bodyPr>
          <a:lstStyle/>
          <a:p>
            <a:pPr algn="l">
              <a:spcAft>
                <a:spcPts val="0"/>
              </a:spcAft>
              <a:defRPr sz="1100" b="0">
                <a:solidFill>
                  <a:srgbClr val="334155"/>
                </a:solidFill>
                <a:latin typeface="Segoe UI"/>
              </a:defRPr>
            </a:pPr>
            <a:r>
              <a:t>The health probe (`/health`) queries Redis for `worker:heartbeat`.</a:t>
            </a:r>
            <a:br/>
            <a:br/>
            <a:r>
              <a:t>Because the worker is down, the 4-second TTL key expires. `/health` flags `worker: 'offline'` gracefully without killing the API.</a:t>
            </a:r>
          </a:p>
        </p:txBody>
      </p:sp>
      <p:sp>
        <p:nvSpPr>
          <p:cNvPr id="12" name="Rounded Rectangle 11"/>
          <p:cNvSpPr/>
          <p:nvPr/>
        </p:nvSpPr>
        <p:spPr>
          <a:xfrm>
            <a:off x="8083296" y="1371600"/>
            <a:ext cx="3364992" cy="393192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66176" y="1554480"/>
            <a:ext cx="2999232" cy="347472"/>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100" b="1">
                <a:solidFill>
                  <a:srgbClr val="FFFFFF"/>
                </a:solidFill>
                <a:latin typeface="Segoe UI"/>
              </a:defRPr>
            </a:pPr>
            <a:r>
              <a:t>STAGE 3: RESTART &amp; RECOVERY</a:t>
            </a:r>
          </a:p>
        </p:txBody>
      </p:sp>
      <p:sp>
        <p:nvSpPr>
          <p:cNvPr id="14" name="TextBox 13"/>
          <p:cNvSpPr txBox="1"/>
          <p:nvPr/>
        </p:nvSpPr>
        <p:spPr>
          <a:xfrm>
            <a:off x="8266176" y="2103120"/>
            <a:ext cx="2999232" cy="3108960"/>
          </a:xfrm>
          <a:prstGeom prst="rect">
            <a:avLst/>
          </a:prstGeom>
          <a:noFill/>
        </p:spPr>
        <p:txBody>
          <a:bodyPr wrap="square">
            <a:spAutoFit/>
          </a:bodyPr>
          <a:lstStyle/>
          <a:p>
            <a:pPr algn="l">
              <a:spcAft>
                <a:spcPts val="0"/>
              </a:spcAft>
              <a:defRPr sz="1100" b="0">
                <a:solidFill>
                  <a:srgbClr val="334155"/>
                </a:solidFill>
                <a:latin typeface="Segoe UI"/>
              </a:defRPr>
            </a:pPr>
            <a:r>
              <a:t>Worker process is restarted (`docker compose start worker`).</a:t>
            </a:r>
            <a:br/>
            <a:br/>
            <a:r>
              <a:t>Worker connects to Redis, picks up all buffered jobs, updates outbox to `SENT`, and restores heartbeat. ZERO DATA LOSS!</a:t>
            </a:r>
          </a:p>
        </p:txBody>
      </p:sp>
      <p:sp>
        <p:nvSpPr>
          <p:cNvPr id="15" name="Rounded Rectangle 14"/>
          <p:cNvSpPr/>
          <p:nvPr/>
        </p:nvSpPr>
        <p:spPr>
          <a:xfrm>
            <a:off x="731520" y="5486400"/>
            <a:ext cx="10725912" cy="777240"/>
          </a:xfrm>
          <a:prstGeom prst="roundRect">
            <a:avLst/>
          </a:prstGeom>
          <a:solidFill>
            <a:srgbClr val="F5F3FF"/>
          </a:solidFill>
          <a:ln w="12700">
            <a:solidFill>
              <a:srgbClr val="63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532120"/>
            <a:ext cx="10360152" cy="685800"/>
          </a:xfrm>
          <a:prstGeom prst="rect">
            <a:avLst/>
          </a:prstGeom>
          <a:noFill/>
        </p:spPr>
        <p:txBody>
          <a:bodyPr wrap="none">
            <a:spAutoFit/>
          </a:bodyPr>
          <a:lstStyle/>
          <a:p>
            <a:pPr algn="ctr">
              <a:spcAft>
                <a:spcPts val="0"/>
              </a:spcAft>
              <a:defRPr sz="1200" b="1">
                <a:solidFill>
                  <a:srgbClr val="635BFF"/>
                </a:solidFill>
                <a:latin typeface="Segoe UI"/>
              </a:defRPr>
            </a:pPr>
            <a:r>
              <a:t>Resilience Guarantee: Even if the worker crashes under heavy surge load, zero notifications are lost and registrations continue without interruption.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000" b="1">
                <a:solidFill>
                  <a:srgbClr val="635BFF"/>
                </a:solidFill>
                <a:latin typeface="Segoe UI"/>
              </a:defRPr>
            </a:pPr>
            <a:r>
              <a:t>DYNAMIC ELASTICITY &amp; AUTO-SCALING SIMULATION</a:t>
            </a:r>
          </a:p>
        </p:txBody>
      </p:sp>
      <p:sp>
        <p:nvSpPr>
          <p:cNvPr id="4" name="TextBox 3"/>
          <p:cNvSpPr txBox="1"/>
          <p:nvPr/>
        </p:nvSpPr>
        <p:spPr>
          <a:xfrm>
            <a:off x="731520" y="658368"/>
            <a:ext cx="9601200" cy="594360"/>
          </a:xfrm>
          <a:prstGeom prst="rect">
            <a:avLst/>
          </a:prstGeom>
          <a:noFill/>
        </p:spPr>
        <p:txBody>
          <a:bodyPr wrap="square" lIns="0" rIns="0" tIns="0" bIns="0">
            <a:spAutoFit/>
          </a:bodyPr>
          <a:lstStyle/>
          <a:p>
            <a:pPr>
              <a:defRPr sz="2100" b="1">
                <a:solidFill>
                  <a:srgbClr val="0F172A"/>
                </a:solidFill>
                <a:latin typeface="Segoe UI"/>
              </a:defRPr>
            </a:pPr>
            <a:r>
              <a:t>Problem 6: Capacity Mismatch: Self-Scaling Architecture</a:t>
            </a:r>
          </a:p>
        </p:txBody>
      </p:sp>
      <p:sp>
        <p:nvSpPr>
          <p:cNvPr id="5" name="TextBox 4"/>
          <p:cNvSpPr txBox="1"/>
          <p:nvPr/>
        </p:nvSpPr>
        <p:spPr>
          <a:xfrm>
            <a:off x="10515600" y="502920"/>
            <a:ext cx="914400" cy="365760"/>
          </a:xfrm>
          <a:prstGeom prst="rect">
            <a:avLst/>
          </a:prstGeom>
          <a:noFill/>
        </p:spPr>
        <p:txBody>
          <a:bodyPr wrap="square" lIns="0" rIns="0" tIns="0" bIns="0">
            <a:spAutoFit/>
          </a:bodyPr>
          <a:lstStyle/>
          <a:p>
            <a:pPr algn="r">
              <a:defRPr sz="1200" b="1">
                <a:solidFill>
                  <a:srgbClr val="64748B"/>
                </a:solidFill>
                <a:latin typeface="Segoe UI"/>
              </a:defRPr>
            </a:pPr>
            <a:r>
              <a:t>12 / 20</a:t>
            </a:r>
          </a:p>
        </p:txBody>
      </p:sp>
      <p:sp>
        <p:nvSpPr>
          <p:cNvPr id="6" name="Rounded Rectangle 5"/>
          <p:cNvSpPr/>
          <p:nvPr/>
        </p:nvSpPr>
        <p:spPr>
          <a:xfrm>
            <a:off x="731520" y="1280160"/>
            <a:ext cx="10725912" cy="1097280"/>
          </a:xfrm>
          <a:prstGeom prst="roundRect">
            <a:avLst/>
          </a:prstGeom>
          <a:solidFill>
            <a:srgbClr val="F5F3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25880"/>
            <a:ext cx="10360152" cy="1005840"/>
          </a:xfrm>
          <a:prstGeom prst="rect">
            <a:avLst/>
          </a:prstGeom>
          <a:noFill/>
        </p:spPr>
        <p:txBody>
          <a:bodyPr wrap="square">
            <a:spAutoFit/>
          </a:bodyPr>
          <a:lstStyle/>
          <a:p>
            <a:pPr algn="l">
              <a:spcAft>
                <a:spcPts val="200"/>
              </a:spcAft>
              <a:defRPr sz="1100" b="1">
                <a:solidFill>
                  <a:srgbClr val="635BFF"/>
                </a:solidFill>
                <a:latin typeface="Segoe UI"/>
              </a:defRPr>
            </a:pPr>
            <a:r>
              <a:t>THE DYNAMIC SCALING LIFECYCLE:</a:t>
            </a:r>
          </a:p>
          <a:p>
            <a:pPr algn="l">
              <a:spcAft>
                <a:spcPts val="0"/>
              </a:spcAft>
              <a:defRPr sz="1100" b="1">
                <a:solidFill>
                  <a:srgbClr val="0F172A"/>
                </a:solidFill>
                <a:latin typeface="Segoe UI"/>
              </a:defRPr>
            </a:pPr>
            <a:r>
              <a:t>NORMAL CAPACITY (2 Workers)  ──[Traffic Surge: Queue Depth &gt; 0]──→  SCALE OUT (4 → 6 → 8 → 10 Workers)  ──[Queue Drains]──→  SCALE IN (2 Workers)</a:t>
            </a:r>
          </a:p>
        </p:txBody>
      </p:sp>
      <p:sp>
        <p:nvSpPr>
          <p:cNvPr id="8" name="Rounded Rectangle 7"/>
          <p:cNvSpPr/>
          <p:nvPr/>
        </p:nvSpPr>
        <p:spPr>
          <a:xfrm>
            <a:off x="731520" y="2560320"/>
            <a:ext cx="5166360" cy="3474720"/>
          </a:xfrm>
          <a:prstGeom prst="roundRect">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697480"/>
            <a:ext cx="4709160" cy="3200400"/>
          </a:xfrm>
          <a:prstGeom prst="rect">
            <a:avLst/>
          </a:prstGeom>
          <a:noFill/>
        </p:spPr>
        <p:txBody>
          <a:bodyPr wrap="square">
            <a:spAutoFit/>
          </a:bodyPr>
          <a:lstStyle/>
          <a:p>
            <a:pPr algn="l">
              <a:spcAft>
                <a:spcPts val="600"/>
              </a:spcAft>
              <a:defRPr sz="1300" b="1">
                <a:solidFill>
                  <a:srgbClr val="635BFF"/>
                </a:solidFill>
                <a:latin typeface="Segoe UI"/>
              </a:defRPr>
            </a:pPr>
            <a:r>
              <a:t>LOCAL PROTOTYPE: AUTO-SCALING SIMULATION</a:t>
            </a:r>
          </a:p>
          <a:p>
            <a:pPr algn="l">
              <a:spcAft>
                <a:spcPts val="100"/>
              </a:spcAft>
              <a:defRPr sz="1050" b="1">
                <a:solidFill>
                  <a:srgbClr val="635BFF"/>
                </a:solidFill>
                <a:latin typeface="Segoe UI"/>
              </a:defRPr>
            </a:pPr>
            <a:r>
              <a:t>• Honest Engineering Label:</a:t>
            </a:r>
          </a:p>
          <a:p>
            <a:pPr algn="l">
              <a:spcAft>
                <a:spcPts val="400"/>
              </a:spcAft>
              <a:defRPr sz="950" b="0">
                <a:solidFill>
                  <a:srgbClr val="334155"/>
                </a:solidFill>
                <a:latin typeface="Segoe UI"/>
              </a:defRPr>
            </a:pPr>
            <a:r>
              <a:t>Clearly labeled as Simulated for local demonstrability on a single machine without requiring a cloud Kubernetes cluster.</a:t>
            </a:r>
          </a:p>
          <a:p>
            <a:pPr algn="l">
              <a:spcAft>
                <a:spcPts val="100"/>
              </a:spcAft>
              <a:defRPr sz="1050" b="1">
                <a:solidFill>
                  <a:srgbClr val="635BFF"/>
                </a:solidFill>
                <a:latin typeface="Segoe UI"/>
              </a:defRPr>
            </a:pPr>
            <a:r>
              <a:t>• Backlog-Driven Sizing Formula:</a:t>
            </a:r>
          </a:p>
          <a:p>
            <a:pPr algn="l">
              <a:spcAft>
                <a:spcPts val="400"/>
              </a:spcAft>
              <a:defRPr sz="950" b="0">
                <a:solidFill>
                  <a:srgbClr val="334155"/>
                </a:solidFill>
                <a:latin typeface="Segoe UI"/>
              </a:defRPr>
            </a:pPr>
            <a:r>
              <a:t>`queueDepth = waiting + active;`</a:t>
            </a:r>
            <a:br/>
            <a:r>
              <a:t>`simulatedWorkers = Math.min(10, Math.max(2, 2 + Math.ceil(queueDepth / 3)));`</a:t>
            </a:r>
          </a:p>
          <a:p>
            <a:pPr algn="l">
              <a:spcAft>
                <a:spcPts val="100"/>
              </a:spcAft>
              <a:defRPr sz="1050" b="1">
                <a:solidFill>
                  <a:srgbClr val="635BFF"/>
                </a:solidFill>
                <a:latin typeface="Segoe UI"/>
              </a:defRPr>
            </a:pPr>
            <a:r>
              <a:t>• Dynamic Status States:</a:t>
            </a:r>
          </a:p>
          <a:p>
            <a:pPr algn="l">
              <a:spcAft>
                <a:spcPts val="400"/>
              </a:spcAft>
              <a:defRPr sz="950" b="0">
                <a:solidFill>
                  <a:srgbClr val="334155"/>
                </a:solidFill>
                <a:latin typeface="Segoe UI"/>
              </a:defRPr>
            </a:pPr>
            <a:r>
              <a:t>• IDLE_BASELINE (2 workers)</a:t>
            </a:r>
            <a:br/>
            <a:r>
              <a:t>• SCALING_UP (up to 10 workers reacting to surge backlog)</a:t>
            </a:r>
            <a:br/>
            <a:r>
              <a:t>• DRAINING_QUEUE (workers active, backlog clearing)</a:t>
            </a:r>
          </a:p>
          <a:p>
            <a:pPr algn="l">
              <a:spcAft>
                <a:spcPts val="100"/>
              </a:spcAft>
              <a:defRPr sz="1050" b="1">
                <a:solidFill>
                  <a:srgbClr val="635BFF"/>
                </a:solidFill>
                <a:latin typeface="Segoe UI"/>
              </a:defRPr>
            </a:pPr>
            <a:r>
              <a:t>• Live Simulation Endpoint:</a:t>
            </a:r>
          </a:p>
          <a:p>
            <a:pPr algn="l">
              <a:spcAft>
                <a:spcPts val="400"/>
              </a:spcAft>
              <a:defRPr sz="950" b="0">
                <a:solidFill>
                  <a:srgbClr val="334155"/>
                </a:solidFill>
                <a:latin typeface="Segoe UI"/>
              </a:defRPr>
            </a:pPr>
            <a:r>
              <a:t>POST `/api/demo/simulate-surge` enqueues 25-50 jobs into BullMQ to visually show dynamic scaling on the Admin UI.</a:t>
            </a:r>
          </a:p>
        </p:txBody>
      </p:sp>
      <p:sp>
        <p:nvSpPr>
          <p:cNvPr id="10" name="Rounded Rectangle 9"/>
          <p:cNvSpPr/>
          <p:nvPr/>
        </p:nvSpPr>
        <p:spPr>
          <a:xfrm>
            <a:off x="6291072" y="2560320"/>
            <a:ext cx="5166360" cy="34747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2697480"/>
            <a:ext cx="4709160" cy="3200400"/>
          </a:xfrm>
          <a:prstGeom prst="rect">
            <a:avLst/>
          </a:prstGeom>
          <a:noFill/>
        </p:spPr>
        <p:txBody>
          <a:bodyPr wrap="square">
            <a:spAutoFit/>
          </a:bodyPr>
          <a:lstStyle/>
          <a:p>
            <a:pPr algn="l">
              <a:spcAft>
                <a:spcPts val="600"/>
              </a:spcAft>
              <a:defRPr sz="1300" b="1">
                <a:solidFill>
                  <a:srgbClr val="2563EB"/>
                </a:solidFill>
                <a:latin typeface="Segoe UI"/>
              </a:defRPr>
            </a:pPr>
            <a:r>
              <a:t>PRODUCTION BLUEPRINT: KUBERNETES HPA (k8s/)</a:t>
            </a:r>
          </a:p>
          <a:p>
            <a:pPr algn="l">
              <a:spcAft>
                <a:spcPts val="100"/>
              </a:spcAft>
              <a:defRPr sz="1050" b="1">
                <a:solidFill>
                  <a:srgbClr val="2563EB"/>
                </a:solidFill>
                <a:latin typeface="Segoe UI"/>
              </a:defRPr>
            </a:pPr>
            <a:r>
              <a:t>✓ HorizontalPodAutoscaler (HPA v2):</a:t>
            </a:r>
          </a:p>
          <a:p>
            <a:pPr algn="l">
              <a:spcAft>
                <a:spcPts val="400"/>
              </a:spcAft>
              <a:defRPr sz="950" b="0">
                <a:solidFill>
                  <a:srgbClr val="334155"/>
                </a:solidFill>
                <a:latin typeface="Segoe UI"/>
              </a:defRPr>
            </a:pPr>
            <a:r>
              <a:t>Kubernetes HPA manifest provided in `k8s/README.md` targeting the stateless API Deployment.</a:t>
            </a:r>
          </a:p>
          <a:p>
            <a:pPr algn="l">
              <a:spcAft>
                <a:spcPts val="100"/>
              </a:spcAft>
              <a:defRPr sz="1050" b="1">
                <a:solidFill>
                  <a:srgbClr val="2563EB"/>
                </a:solidFill>
                <a:latin typeface="Segoe UI"/>
              </a:defRPr>
            </a:pPr>
            <a:r>
              <a:t>✓ Scaling Policies:</a:t>
            </a:r>
          </a:p>
          <a:p>
            <a:pPr algn="l">
              <a:spcAft>
                <a:spcPts val="400"/>
              </a:spcAft>
              <a:defRPr sz="950" b="0">
                <a:solidFill>
                  <a:srgbClr val="334155"/>
                </a:solidFill>
                <a:latin typeface="Segoe UI"/>
              </a:defRPr>
            </a:pPr>
            <a:r>
              <a:t>• minReplicas: 3, maxReplicas: 20</a:t>
            </a:r>
            <a:br/>
            <a:r>
              <a:t>• Target metric: CPU averageUtilization 60%</a:t>
            </a:r>
          </a:p>
          <a:p>
            <a:pPr algn="l">
              <a:spcAft>
                <a:spcPts val="100"/>
              </a:spcAft>
              <a:defRPr sz="1050" b="1">
                <a:solidFill>
                  <a:srgbClr val="2563EB"/>
                </a:solidFill>
                <a:latin typeface="Segoe UI"/>
              </a:defRPr>
            </a:pPr>
            <a:r>
              <a:t>✓ KEDA Worker Scaling:</a:t>
            </a:r>
          </a:p>
          <a:p>
            <a:pPr algn="l">
              <a:spcAft>
                <a:spcPts val="400"/>
              </a:spcAft>
              <a:defRPr sz="950" b="0">
                <a:solidFill>
                  <a:srgbClr val="334155"/>
                </a:solidFill>
                <a:latin typeface="Segoe UI"/>
              </a:defRPr>
            </a:pPr>
            <a:r>
              <a:t>KEDA (Kubernetes Event-driven Autoscaling) monitors Redis BullMQ backlog queue depth to scale worker pods dynamically.</a:t>
            </a:r>
          </a:p>
          <a:p>
            <a:pPr algn="l">
              <a:spcAft>
                <a:spcPts val="100"/>
              </a:spcAft>
              <a:defRPr sz="1050" b="1">
                <a:solidFill>
                  <a:srgbClr val="2563EB"/>
                </a:solidFill>
                <a:latin typeface="Segoe UI"/>
              </a:defRPr>
            </a:pPr>
            <a:r>
              <a:t>✓ High Availability Best Practices:</a:t>
            </a:r>
          </a:p>
          <a:p>
            <a:pPr algn="l">
              <a:spcAft>
                <a:spcPts val="400"/>
              </a:spcAft>
              <a:defRPr sz="950" b="0">
                <a:solidFill>
                  <a:srgbClr val="334155"/>
                </a:solidFill>
                <a:latin typeface="Segoe UI"/>
              </a:defRPr>
            </a:pPr>
            <a:r>
              <a:t>• PodDisruptionBudget ensures minimum healthy pod quorum</a:t>
            </a:r>
            <a:br/>
            <a:r>
              <a:t>• Readiness/Liveness probes gate traffic to healthy pods.</a:t>
            </a:r>
          </a:p>
        </p:txBody>
      </p:sp>
      <p:sp>
        <p:nvSpPr>
          <p:cNvPr id="12" name="Rounded Rectangle 11"/>
          <p:cNvSpPr/>
          <p:nvPr/>
        </p:nvSpPr>
        <p:spPr>
          <a:xfrm>
            <a:off x="731520" y="6126480"/>
            <a:ext cx="10725912" cy="365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6144768"/>
            <a:ext cx="10360152" cy="320040"/>
          </a:xfrm>
          <a:prstGeom prst="rect">
            <a:avLst/>
          </a:prstGeom>
          <a:noFill/>
        </p:spPr>
        <p:txBody>
          <a:bodyPr wrap="none">
            <a:spAutoFit/>
          </a:bodyPr>
          <a:lstStyle/>
          <a:p>
            <a:pPr algn="ctr">
              <a:spcAft>
                <a:spcPts val="0"/>
              </a:spcAft>
              <a:defRPr sz="1000" b="1">
                <a:solidFill>
                  <a:srgbClr val="64748B"/>
                </a:solidFill>
                <a:latin typeface="Segoe UI"/>
              </a:defRPr>
            </a:pPr>
            <a:r>
              <a:t>Key Distinction: Local prototype uses queue-depth virtual scaling for live demo; production uses Kubernetes HPA &amp; KEDA.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000" b="1">
                <a:solidFill>
                  <a:srgbClr val="635BFF"/>
                </a:solidFill>
                <a:latin typeface="Segoe UI"/>
              </a:defRPr>
            </a:pPr>
            <a:r>
              <a:t>OBSERVABILITY, HEALTH CHECKS &amp; MONITORING</a:t>
            </a:r>
          </a:p>
        </p:txBody>
      </p:sp>
      <p:sp>
        <p:nvSpPr>
          <p:cNvPr id="4" name="TextBox 3"/>
          <p:cNvSpPr txBox="1"/>
          <p:nvPr/>
        </p:nvSpPr>
        <p:spPr>
          <a:xfrm>
            <a:off x="731520" y="658368"/>
            <a:ext cx="9601200" cy="594360"/>
          </a:xfrm>
          <a:prstGeom prst="rect">
            <a:avLst/>
          </a:prstGeom>
          <a:noFill/>
        </p:spPr>
        <p:txBody>
          <a:bodyPr wrap="square" lIns="0" rIns="0" tIns="0" bIns="0">
            <a:spAutoFit/>
          </a:bodyPr>
          <a:lstStyle/>
          <a:p>
            <a:pPr>
              <a:defRPr sz="2100" b="1">
                <a:solidFill>
                  <a:srgbClr val="0F172A"/>
                </a:solidFill>
                <a:latin typeface="Segoe UI"/>
              </a:defRPr>
            </a:pPr>
            <a:r>
              <a:t>Operational Visibility: Health Probes &amp; Live Telemetry</a:t>
            </a:r>
          </a:p>
        </p:txBody>
      </p:sp>
      <p:sp>
        <p:nvSpPr>
          <p:cNvPr id="5" name="TextBox 4"/>
          <p:cNvSpPr txBox="1"/>
          <p:nvPr/>
        </p:nvSpPr>
        <p:spPr>
          <a:xfrm>
            <a:off x="10515600" y="502920"/>
            <a:ext cx="914400" cy="365760"/>
          </a:xfrm>
          <a:prstGeom prst="rect">
            <a:avLst/>
          </a:prstGeom>
          <a:noFill/>
        </p:spPr>
        <p:txBody>
          <a:bodyPr wrap="square" lIns="0" rIns="0" tIns="0" bIns="0">
            <a:spAutoFit/>
          </a:bodyPr>
          <a:lstStyle/>
          <a:p>
            <a:pPr algn="r">
              <a:defRPr sz="1200" b="1">
                <a:solidFill>
                  <a:srgbClr val="64748B"/>
                </a:solidFill>
                <a:latin typeface="Segoe UI"/>
              </a:defRPr>
            </a:pPr>
            <a:r>
              <a:t>13 / 20</a:t>
            </a:r>
          </a:p>
        </p:txBody>
      </p:sp>
      <p:sp>
        <p:nvSpPr>
          <p:cNvPr id="6" name="Rounded Rectangle 5"/>
          <p:cNvSpPr/>
          <p:nvPr/>
        </p:nvSpPr>
        <p:spPr>
          <a:xfrm>
            <a:off x="731520" y="1371600"/>
            <a:ext cx="3364992" cy="46634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508760"/>
            <a:ext cx="3090672" cy="3657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050" b="1">
                <a:solidFill>
                  <a:srgbClr val="FFFFFF"/>
                </a:solidFill>
                <a:latin typeface="Segoe UI"/>
              </a:defRPr>
            </a:pPr>
            <a:r>
              <a:t>1. Multi-Tier Health Check (/health)</a:t>
            </a:r>
          </a:p>
        </p:txBody>
      </p:sp>
      <p:sp>
        <p:nvSpPr>
          <p:cNvPr id="8" name="TextBox 7"/>
          <p:cNvSpPr txBox="1"/>
          <p:nvPr/>
        </p:nvSpPr>
        <p:spPr>
          <a:xfrm>
            <a:off x="868680" y="1965960"/>
            <a:ext cx="3090672" cy="3977640"/>
          </a:xfrm>
          <a:prstGeom prst="rect">
            <a:avLst/>
          </a:prstGeom>
          <a:noFill/>
        </p:spPr>
        <p:txBody>
          <a:bodyPr wrap="square">
            <a:spAutoFit/>
          </a:bodyPr>
          <a:lstStyle/>
          <a:p>
            <a:pPr algn="l">
              <a:spcAft>
                <a:spcPts val="600"/>
              </a:spcAft>
              <a:defRPr sz="1000" b="1">
                <a:solidFill>
                  <a:srgbClr val="64748B"/>
                </a:solidFill>
                <a:latin typeface="Segoe UI"/>
              </a:defRPr>
            </a:pPr>
            <a:r>
              <a:t>Composite Dependency Verification</a:t>
            </a:r>
          </a:p>
          <a:p>
            <a:pPr algn="l">
              <a:spcAft>
                <a:spcPts val="400"/>
              </a:spcAft>
              <a:defRPr sz="950" b="0">
                <a:solidFill>
                  <a:srgbClr val="334155"/>
                </a:solidFill>
                <a:latin typeface="Segoe UI"/>
              </a:defRPr>
            </a:pPr>
            <a:r>
              <a:t>• PostgreSQL Probe: Executes `SELECT 1`.</a:t>
            </a:r>
          </a:p>
          <a:p>
            <a:pPr algn="l">
              <a:spcAft>
                <a:spcPts val="400"/>
              </a:spcAft>
              <a:defRPr sz="950" b="0">
                <a:solidFill>
                  <a:srgbClr val="334155"/>
                </a:solidFill>
                <a:latin typeface="Segoe UI"/>
              </a:defRPr>
            </a:pPr>
            <a:r>
              <a:t>• Redis Probe: Executes `redis.ping()`.</a:t>
            </a:r>
          </a:p>
          <a:p>
            <a:pPr algn="l">
              <a:spcAft>
                <a:spcPts val="400"/>
              </a:spcAft>
              <a:defRPr sz="950" b="0">
                <a:solidFill>
                  <a:srgbClr val="334155"/>
                </a:solidFill>
                <a:latin typeface="Segoe UI"/>
              </a:defRPr>
            </a:pPr>
            <a:r>
              <a:t>• Worker Heartbeat: Checks `worker:heartbeat` key in Redis (4s TTL).</a:t>
            </a:r>
          </a:p>
          <a:p>
            <a:pPr algn="l">
              <a:spcAft>
                <a:spcPts val="400"/>
              </a:spcAft>
              <a:defRPr sz="950" b="0">
                <a:solidFill>
                  <a:srgbClr val="334155"/>
                </a:solidFill>
                <a:latin typeface="Segoe UI"/>
              </a:defRPr>
            </a:pPr>
            <a:r>
              <a:t>• Returns HTTP 200 with service breakdown:</a:t>
            </a:r>
          </a:p>
          <a:p>
            <a:pPr algn="l">
              <a:spcAft>
                <a:spcPts val="400"/>
              </a:spcAft>
              <a:defRPr sz="950" b="0">
                <a:solidFill>
                  <a:srgbClr val="334155"/>
                </a:solidFill>
                <a:latin typeface="Segoe UI"/>
              </a:defRPr>
            </a:pPr>
            <a:r>
              <a:t>• `{ status: 'ok', database: 'ok', redis: 'ok', worker: 'active' }`</a:t>
            </a:r>
          </a:p>
          <a:p>
            <a:pPr algn="l">
              <a:spcAft>
                <a:spcPts val="400"/>
              </a:spcAft>
              <a:defRPr sz="950" b="0">
                <a:solidFill>
                  <a:srgbClr val="334155"/>
                </a:solidFill>
                <a:latin typeface="Segoe UI"/>
              </a:defRPr>
            </a:pPr>
            <a:r>
              <a:t>• Graceful Degradation: If worker dies, reports `worker: 'offline'` while keeping HTTP API status functional.</a:t>
            </a:r>
          </a:p>
        </p:txBody>
      </p:sp>
      <p:sp>
        <p:nvSpPr>
          <p:cNvPr id="9" name="Rounded Rectangle 8"/>
          <p:cNvSpPr/>
          <p:nvPr/>
        </p:nvSpPr>
        <p:spPr>
          <a:xfrm>
            <a:off x="4407407" y="1371600"/>
            <a:ext cx="3364992" cy="466344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44567" y="1508760"/>
            <a:ext cx="3090672" cy="36576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050" b="1">
                <a:solidFill>
                  <a:srgbClr val="FFFFFF"/>
                </a:solidFill>
                <a:latin typeface="Segoe UI"/>
              </a:defRPr>
            </a:pPr>
            <a:r>
              <a:t>2. Kubernetes Readiness (/ready)</a:t>
            </a:r>
          </a:p>
        </p:txBody>
      </p:sp>
      <p:sp>
        <p:nvSpPr>
          <p:cNvPr id="11" name="TextBox 10"/>
          <p:cNvSpPr txBox="1"/>
          <p:nvPr/>
        </p:nvSpPr>
        <p:spPr>
          <a:xfrm>
            <a:off x="4544567" y="1965960"/>
            <a:ext cx="3090672" cy="3977640"/>
          </a:xfrm>
          <a:prstGeom prst="rect">
            <a:avLst/>
          </a:prstGeom>
          <a:noFill/>
        </p:spPr>
        <p:txBody>
          <a:bodyPr wrap="square">
            <a:spAutoFit/>
          </a:bodyPr>
          <a:lstStyle/>
          <a:p>
            <a:pPr algn="l">
              <a:spcAft>
                <a:spcPts val="600"/>
              </a:spcAft>
              <a:defRPr sz="1000" b="1">
                <a:solidFill>
                  <a:srgbClr val="64748B"/>
                </a:solidFill>
                <a:latin typeface="Segoe UI"/>
              </a:defRPr>
            </a:pPr>
            <a:r>
              <a:t>Ingress Traffic Routing Probe</a:t>
            </a:r>
          </a:p>
          <a:p>
            <a:pPr algn="l">
              <a:spcAft>
                <a:spcPts val="400"/>
              </a:spcAft>
              <a:defRPr sz="950" b="0">
                <a:solidFill>
                  <a:srgbClr val="334155"/>
                </a:solidFill>
                <a:latin typeface="Segoe UI"/>
              </a:defRPr>
            </a:pPr>
            <a:r>
              <a:t>• Lightweight probe verifying DB connectivity.</a:t>
            </a:r>
          </a:p>
          <a:p>
            <a:pPr algn="l">
              <a:spcAft>
                <a:spcPts val="400"/>
              </a:spcAft>
              <a:defRPr sz="950" b="0">
                <a:solidFill>
                  <a:srgbClr val="334155"/>
                </a:solidFill>
                <a:latin typeface="Segoe UI"/>
              </a:defRPr>
            </a:pPr>
            <a:r>
              <a:t>• Returns `{ ready: true, instance: 'app1' }`.</a:t>
            </a:r>
          </a:p>
          <a:p>
            <a:pPr algn="l">
              <a:spcAft>
                <a:spcPts val="400"/>
              </a:spcAft>
              <a:defRPr sz="950" b="0">
                <a:solidFill>
                  <a:srgbClr val="334155"/>
                </a:solidFill>
                <a:latin typeface="Segoe UI"/>
              </a:defRPr>
            </a:pPr>
            <a:r>
              <a:t>• Prevents sending user traffic to cold-starting pods.</a:t>
            </a:r>
          </a:p>
          <a:p>
            <a:pPr algn="l">
              <a:spcAft>
                <a:spcPts val="400"/>
              </a:spcAft>
              <a:defRPr sz="950" b="0">
                <a:solidFill>
                  <a:srgbClr val="334155"/>
                </a:solidFill>
                <a:latin typeface="Segoe UI"/>
              </a:defRPr>
            </a:pPr>
            <a:r>
              <a:t>• Nginx Upstream Failover:</a:t>
            </a:r>
          </a:p>
          <a:p>
            <a:pPr algn="l">
              <a:spcAft>
                <a:spcPts val="400"/>
              </a:spcAft>
              <a:defRPr sz="950" b="0">
                <a:solidFill>
                  <a:srgbClr val="334155"/>
                </a:solidFill>
                <a:latin typeface="Segoe UI"/>
              </a:defRPr>
            </a:pPr>
            <a:r>
              <a:t>• `server app1:3000 max_fails=2 fail_timeout=5s;`</a:t>
            </a:r>
          </a:p>
          <a:p>
            <a:pPr algn="l">
              <a:spcAft>
                <a:spcPts val="400"/>
              </a:spcAft>
              <a:defRPr sz="950" b="0">
                <a:solidFill>
                  <a:srgbClr val="334155"/>
                </a:solidFill>
                <a:latin typeface="Segoe UI"/>
              </a:defRPr>
            </a:pPr>
            <a:r>
              <a:t>• `proxy_next_upstream error timeout http_502 http_503 http_504;`</a:t>
            </a:r>
          </a:p>
          <a:p>
            <a:pPr algn="l">
              <a:spcAft>
                <a:spcPts val="400"/>
              </a:spcAft>
              <a:defRPr sz="950" b="0">
                <a:solidFill>
                  <a:srgbClr val="334155"/>
                </a:solidFill>
                <a:latin typeface="Segoe UI"/>
              </a:defRPr>
            </a:pPr>
            <a:r>
              <a:t>• If App 1 crashes, Nginx retries App 2 in &lt;1ms!</a:t>
            </a:r>
          </a:p>
        </p:txBody>
      </p:sp>
      <p:sp>
        <p:nvSpPr>
          <p:cNvPr id="12" name="Rounded Rectangle 11"/>
          <p:cNvSpPr/>
          <p:nvPr/>
        </p:nvSpPr>
        <p:spPr>
          <a:xfrm>
            <a:off x="8083296" y="1371600"/>
            <a:ext cx="3364992" cy="4663440"/>
          </a:xfrm>
          <a:prstGeom prst="roundRect">
            <a:avLst/>
          </a:prstGeom>
          <a:solidFill>
            <a:srgbClr val="F5F3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0456" y="1508760"/>
            <a:ext cx="3090672" cy="365760"/>
          </a:xfrm>
          <a:prstGeom prst="round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050" b="1">
                <a:solidFill>
                  <a:srgbClr val="FFFFFF"/>
                </a:solidFill>
                <a:latin typeface="Segoe UI"/>
              </a:defRPr>
            </a:pPr>
            <a:r>
              <a:t>3. Prometheus &amp; Live Admin UI</a:t>
            </a:r>
          </a:p>
        </p:txBody>
      </p:sp>
      <p:sp>
        <p:nvSpPr>
          <p:cNvPr id="14" name="TextBox 13"/>
          <p:cNvSpPr txBox="1"/>
          <p:nvPr/>
        </p:nvSpPr>
        <p:spPr>
          <a:xfrm>
            <a:off x="8220456" y="1965960"/>
            <a:ext cx="3090672" cy="3977640"/>
          </a:xfrm>
          <a:prstGeom prst="rect">
            <a:avLst/>
          </a:prstGeom>
          <a:noFill/>
        </p:spPr>
        <p:txBody>
          <a:bodyPr wrap="square">
            <a:spAutoFit/>
          </a:bodyPr>
          <a:lstStyle/>
          <a:p>
            <a:pPr algn="l">
              <a:spcAft>
                <a:spcPts val="600"/>
              </a:spcAft>
              <a:defRPr sz="1000" b="1">
                <a:solidFill>
                  <a:srgbClr val="64748B"/>
                </a:solidFill>
                <a:latin typeface="Segoe UI"/>
              </a:defRPr>
            </a:pPr>
            <a:r>
              <a:t>Real-Time Telemetry &amp; Monitoring</a:t>
            </a:r>
          </a:p>
          <a:p>
            <a:pPr algn="l">
              <a:spcAft>
                <a:spcPts val="400"/>
              </a:spcAft>
              <a:defRPr sz="950" b="0">
                <a:solidFill>
                  <a:srgbClr val="334155"/>
                </a:solidFill>
                <a:latin typeface="Segoe UI"/>
              </a:defRPr>
            </a:pPr>
            <a:r>
              <a:t>• Prometheus Metrics (`/metrics`):</a:t>
            </a:r>
          </a:p>
          <a:p>
            <a:pPr algn="l">
              <a:spcAft>
                <a:spcPts val="400"/>
              </a:spcAft>
              <a:defRPr sz="950" b="0">
                <a:solidFill>
                  <a:srgbClr val="334155"/>
                </a:solidFill>
                <a:latin typeface="Segoe UI"/>
              </a:defRPr>
            </a:pPr>
            <a:r>
              <a:t>• • `http_requests_total`: by route, status, instance</a:t>
            </a:r>
          </a:p>
          <a:p>
            <a:pPr algn="l">
              <a:spcAft>
                <a:spcPts val="400"/>
              </a:spcAft>
              <a:defRPr sz="950" b="0">
                <a:solidFill>
                  <a:srgbClr val="334155"/>
                </a:solidFill>
                <a:latin typeface="Segoe UI"/>
              </a:defRPr>
            </a:pPr>
            <a:r>
              <a:t>• • `registrations_total`: by result outcome</a:t>
            </a:r>
          </a:p>
          <a:p>
            <a:pPr algn="l">
              <a:spcAft>
                <a:spcPts val="400"/>
              </a:spcAft>
              <a:defRPr sz="950" b="0">
                <a:solidFill>
                  <a:srgbClr val="334155"/>
                </a:solidFill>
                <a:latin typeface="Segoe UI"/>
              </a:defRPr>
            </a:pPr>
            <a:r>
              <a:t>• Live Admin Dashboard (`/api/admin/dashboard`):</a:t>
            </a:r>
          </a:p>
          <a:p>
            <a:pPr algn="l">
              <a:spcAft>
                <a:spcPts val="400"/>
              </a:spcAft>
              <a:defRPr sz="950" b="0">
                <a:solidFill>
                  <a:srgbClr val="334155"/>
                </a:solidFill>
                <a:latin typeface="Segoe UI"/>
              </a:defRPr>
            </a:pPr>
            <a:r>
              <a:t>• • Service health badges (Nginx, API, Postgres, Redis, BullMQ, Worker)</a:t>
            </a:r>
          </a:p>
          <a:p>
            <a:pPr algn="l">
              <a:spcAft>
                <a:spcPts val="400"/>
              </a:spcAft>
              <a:defRPr sz="950" b="0">
                <a:solidFill>
                  <a:srgbClr val="334155"/>
                </a:solidFill>
                <a:latin typeface="Segoe UI"/>
              </a:defRPr>
            </a:pPr>
            <a:r>
              <a:t>• • Real-time BullMQ queue depth counters</a:t>
            </a:r>
          </a:p>
          <a:p>
            <a:pPr algn="l">
              <a:spcAft>
                <a:spcPts val="400"/>
              </a:spcAft>
              <a:defRPr sz="950" b="0">
                <a:solidFill>
                  <a:srgbClr val="334155"/>
                </a:solidFill>
                <a:latin typeface="Segoe UI"/>
              </a:defRPr>
            </a:pPr>
            <a:r>
              <a:t>• • Outbox delivery tracker &amp; scaling status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000" b="1">
                <a:solidFill>
                  <a:srgbClr val="635BFF"/>
                </a:solidFill>
                <a:latin typeface="Segoe UI"/>
              </a:defRPr>
            </a:pPr>
            <a:r>
              <a:t>ARCHITECTURAL DIFFERENTIATION</a:t>
            </a:r>
          </a:p>
        </p:txBody>
      </p:sp>
      <p:sp>
        <p:nvSpPr>
          <p:cNvPr id="4" name="TextBox 3"/>
          <p:cNvSpPr txBox="1"/>
          <p:nvPr/>
        </p:nvSpPr>
        <p:spPr>
          <a:xfrm>
            <a:off x="731520" y="658368"/>
            <a:ext cx="9601200" cy="594360"/>
          </a:xfrm>
          <a:prstGeom prst="rect">
            <a:avLst/>
          </a:prstGeom>
          <a:noFill/>
        </p:spPr>
        <p:txBody>
          <a:bodyPr wrap="square" lIns="0" rIns="0" tIns="0" bIns="0">
            <a:spAutoFit/>
          </a:bodyPr>
          <a:lstStyle/>
          <a:p>
            <a:pPr>
              <a:defRPr sz="2100" b="1">
                <a:solidFill>
                  <a:srgbClr val="0F172A"/>
                </a:solidFill>
                <a:latin typeface="Segoe UI"/>
              </a:defRPr>
            </a:pPr>
            <a:r>
              <a:t>What Makes SurgeShield Unique? The Integrated Platform</a:t>
            </a:r>
          </a:p>
        </p:txBody>
      </p:sp>
      <p:sp>
        <p:nvSpPr>
          <p:cNvPr id="5" name="TextBox 4"/>
          <p:cNvSpPr txBox="1"/>
          <p:nvPr/>
        </p:nvSpPr>
        <p:spPr>
          <a:xfrm>
            <a:off x="10515600" y="502920"/>
            <a:ext cx="914400" cy="365760"/>
          </a:xfrm>
          <a:prstGeom prst="rect">
            <a:avLst/>
          </a:prstGeom>
          <a:noFill/>
        </p:spPr>
        <p:txBody>
          <a:bodyPr wrap="square" lIns="0" rIns="0" tIns="0" bIns="0">
            <a:spAutoFit/>
          </a:bodyPr>
          <a:lstStyle/>
          <a:p>
            <a:pPr algn="r">
              <a:defRPr sz="1200" b="1">
                <a:solidFill>
                  <a:srgbClr val="64748B"/>
                </a:solidFill>
                <a:latin typeface="Segoe UI"/>
              </a:defRPr>
            </a:pPr>
            <a:r>
              <a:t>14 / 20</a:t>
            </a:r>
          </a:p>
        </p:txBody>
      </p:sp>
      <p:sp>
        <p:nvSpPr>
          <p:cNvPr id="6" name="Rounded Rectangle 5"/>
          <p:cNvSpPr/>
          <p:nvPr/>
        </p:nvSpPr>
        <p:spPr>
          <a:xfrm>
            <a:off x="731520" y="1280160"/>
            <a:ext cx="10725912" cy="914400"/>
          </a:xfrm>
          <a:prstGeom prst="roundRect">
            <a:avLst/>
          </a:prstGeom>
          <a:solidFill>
            <a:srgbClr val="F5F3FF"/>
          </a:solidFill>
          <a:ln w="12700">
            <a:solidFill>
              <a:srgbClr val="63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53312"/>
            <a:ext cx="10360152" cy="777240"/>
          </a:xfrm>
          <a:prstGeom prst="rect">
            <a:avLst/>
          </a:prstGeom>
          <a:noFill/>
        </p:spPr>
        <p:txBody>
          <a:bodyPr wrap="square">
            <a:spAutoFit/>
          </a:bodyPr>
          <a:lstStyle/>
          <a:p>
            <a:pPr algn="l">
              <a:spcAft>
                <a:spcPts val="200"/>
              </a:spcAft>
              <a:defRPr sz="1300" b="1">
                <a:solidFill>
                  <a:srgbClr val="635BFF"/>
                </a:solidFill>
                <a:latin typeface="Segoe UI"/>
              </a:defRPr>
            </a:pPr>
            <a:r>
              <a:t>SURGESHIELD IS NOT JUST AN EVENT-REGISTRATION APP.</a:t>
            </a:r>
          </a:p>
          <a:p>
            <a:pPr algn="l">
              <a:spcAft>
                <a:spcPts val="0"/>
              </a:spcAft>
              <a:defRPr sz="1100" b="0">
                <a:solidFill>
                  <a:srgbClr val="0F172A"/>
                </a:solidFill>
                <a:latin typeface="Segoe UI"/>
              </a:defRPr>
            </a:pPr>
            <a:r>
              <a:t>It is an integrated, demonstrable resilient-systems platform. Its uniqueness lies in the deliberate combination of 8 distributed resilience mechanisms working together seamlessly under load.</a:t>
            </a:r>
          </a:p>
        </p:txBody>
      </p:sp>
      <p:sp>
        <p:nvSpPr>
          <p:cNvPr id="8" name="Rounded Rectangle 7"/>
          <p:cNvSpPr/>
          <p:nvPr/>
        </p:nvSpPr>
        <p:spPr>
          <a:xfrm>
            <a:off x="731520" y="2377440"/>
            <a:ext cx="2514600"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487168"/>
            <a:ext cx="2295144" cy="1517904"/>
          </a:xfrm>
          <a:prstGeom prst="rect">
            <a:avLst/>
          </a:prstGeom>
          <a:noFill/>
        </p:spPr>
        <p:txBody>
          <a:bodyPr wrap="square">
            <a:spAutoFit/>
          </a:bodyPr>
          <a:lstStyle/>
          <a:p>
            <a:pPr algn="l">
              <a:spcAft>
                <a:spcPts val="400"/>
              </a:spcAft>
              <a:defRPr sz="1100" b="1">
                <a:solidFill>
                  <a:srgbClr val="16A34A"/>
                </a:solidFill>
                <a:latin typeface="Segoe UI"/>
              </a:defRPr>
            </a:pPr>
            <a:r>
              <a:t>1. Strict Concurrency Control</a:t>
            </a:r>
          </a:p>
          <a:p>
            <a:pPr algn="l">
              <a:spcAft>
                <a:spcPts val="0"/>
              </a:spcAft>
              <a:defRPr sz="950" b="0">
                <a:solidFill>
                  <a:srgbClr val="334155"/>
                </a:solidFill>
                <a:latin typeface="Segoe UI"/>
              </a:defRPr>
            </a:pPr>
            <a:r>
              <a:t>Pessimistic row locking (`SELECT ... FOR UPDATE`) guarantees zero overbooking even across multiple distributed nodes.</a:t>
            </a:r>
          </a:p>
        </p:txBody>
      </p:sp>
      <p:sp>
        <p:nvSpPr>
          <p:cNvPr id="10" name="Rounded Rectangle 9"/>
          <p:cNvSpPr/>
          <p:nvPr/>
        </p:nvSpPr>
        <p:spPr>
          <a:xfrm>
            <a:off x="3465576" y="2377440"/>
            <a:ext cx="2514600"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75304" y="2487168"/>
            <a:ext cx="2295144" cy="1517904"/>
          </a:xfrm>
          <a:prstGeom prst="rect">
            <a:avLst/>
          </a:prstGeom>
          <a:noFill/>
        </p:spPr>
        <p:txBody>
          <a:bodyPr wrap="square">
            <a:spAutoFit/>
          </a:bodyPr>
          <a:lstStyle/>
          <a:p>
            <a:pPr algn="l">
              <a:spcAft>
                <a:spcPts val="400"/>
              </a:spcAft>
              <a:defRPr sz="1100" b="1">
                <a:solidFill>
                  <a:srgbClr val="16A34A"/>
                </a:solidFill>
                <a:latin typeface="Segoe UI"/>
              </a:defRPr>
            </a:pPr>
            <a:r>
              <a:t>2. Guaranteed Idempotency</a:t>
            </a:r>
          </a:p>
          <a:p>
            <a:pPr algn="l">
              <a:spcAft>
                <a:spcPts val="0"/>
              </a:spcAft>
              <a:defRPr sz="950" b="0">
                <a:solidFill>
                  <a:srgbClr val="334155"/>
                </a:solidFill>
                <a:latin typeface="Segoe UI"/>
              </a:defRPr>
            </a:pPr>
            <a:r>
              <a:t>Unique UUID keys and database constraints ensure network retries and double-clicks never deduct seats twice.</a:t>
            </a:r>
          </a:p>
        </p:txBody>
      </p:sp>
      <p:sp>
        <p:nvSpPr>
          <p:cNvPr id="12" name="Rounded Rectangle 11"/>
          <p:cNvSpPr/>
          <p:nvPr/>
        </p:nvSpPr>
        <p:spPr>
          <a:xfrm>
            <a:off x="6199632" y="2377440"/>
            <a:ext cx="2514600"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2487168"/>
            <a:ext cx="2295144" cy="1517904"/>
          </a:xfrm>
          <a:prstGeom prst="rect">
            <a:avLst/>
          </a:prstGeom>
          <a:noFill/>
        </p:spPr>
        <p:txBody>
          <a:bodyPr wrap="square">
            <a:spAutoFit/>
          </a:bodyPr>
          <a:lstStyle/>
          <a:p>
            <a:pPr algn="l">
              <a:spcAft>
                <a:spcPts val="400"/>
              </a:spcAft>
              <a:defRPr sz="1100" b="1">
                <a:solidFill>
                  <a:srgbClr val="2563EB"/>
                </a:solidFill>
                <a:latin typeface="Segoe UI"/>
              </a:defRPr>
            </a:pPr>
            <a:r>
              <a:t>3. Decoupled Asynchronous Processing</a:t>
            </a:r>
          </a:p>
          <a:p>
            <a:pPr algn="l">
              <a:spcAft>
                <a:spcPts val="0"/>
              </a:spcAft>
              <a:defRPr sz="950" b="0">
                <a:solidFill>
                  <a:srgbClr val="334155"/>
                </a:solidFill>
                <a:latin typeface="Segoe UI"/>
              </a:defRPr>
            </a:pPr>
            <a:r>
              <a:t>BullMQ + Redis offloads slow notification I/O, maintaining sub-15ms registration response times.</a:t>
            </a:r>
          </a:p>
        </p:txBody>
      </p:sp>
      <p:sp>
        <p:nvSpPr>
          <p:cNvPr id="14" name="Rounded Rectangle 13"/>
          <p:cNvSpPr/>
          <p:nvPr/>
        </p:nvSpPr>
        <p:spPr>
          <a:xfrm>
            <a:off x="8933688" y="2377440"/>
            <a:ext cx="2514600"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43416" y="2487168"/>
            <a:ext cx="2295144" cy="1517904"/>
          </a:xfrm>
          <a:prstGeom prst="rect">
            <a:avLst/>
          </a:prstGeom>
          <a:noFill/>
        </p:spPr>
        <p:txBody>
          <a:bodyPr wrap="square">
            <a:spAutoFit/>
          </a:bodyPr>
          <a:lstStyle/>
          <a:p>
            <a:pPr algn="l">
              <a:spcAft>
                <a:spcPts val="400"/>
              </a:spcAft>
              <a:defRPr sz="1100" b="1">
                <a:solidFill>
                  <a:srgbClr val="2563EB"/>
                </a:solidFill>
                <a:latin typeface="Segoe UI"/>
              </a:defRPr>
            </a:pPr>
            <a:r>
              <a:t>4. Horizontal Load Balancing</a:t>
            </a:r>
          </a:p>
          <a:p>
            <a:pPr algn="l">
              <a:spcAft>
                <a:spcPts val="0"/>
              </a:spcAft>
              <a:defRPr sz="950" b="0">
                <a:solidFill>
                  <a:srgbClr val="334155"/>
                </a:solidFill>
                <a:latin typeface="Segoe UI"/>
              </a:defRPr>
            </a:pPr>
            <a:r>
              <a:t>Nginx round-robin distributes traffic across 3 stateless API nodes with serving instance verification (`servedBy`).</a:t>
            </a:r>
          </a:p>
        </p:txBody>
      </p:sp>
      <p:sp>
        <p:nvSpPr>
          <p:cNvPr id="16" name="Rounded Rectangle 15"/>
          <p:cNvSpPr/>
          <p:nvPr/>
        </p:nvSpPr>
        <p:spPr>
          <a:xfrm>
            <a:off x="731520" y="4297680"/>
            <a:ext cx="2514600"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4407408"/>
            <a:ext cx="2295144" cy="1517904"/>
          </a:xfrm>
          <a:prstGeom prst="rect">
            <a:avLst/>
          </a:prstGeom>
          <a:noFill/>
        </p:spPr>
        <p:txBody>
          <a:bodyPr wrap="square">
            <a:spAutoFit/>
          </a:bodyPr>
          <a:lstStyle/>
          <a:p>
            <a:pPr algn="l">
              <a:spcAft>
                <a:spcPts val="400"/>
              </a:spcAft>
              <a:defRPr sz="1100" b="1">
                <a:solidFill>
                  <a:srgbClr val="16A34A"/>
                </a:solidFill>
                <a:latin typeface="Segoe UI"/>
              </a:defRPr>
            </a:pPr>
            <a:r>
              <a:t>5. Persistent Queue-Based Recovery</a:t>
            </a:r>
          </a:p>
          <a:p>
            <a:pPr algn="l">
              <a:spcAft>
                <a:spcPts val="0"/>
              </a:spcAft>
              <a:defRPr sz="950" b="0">
                <a:solidFill>
                  <a:srgbClr val="334155"/>
                </a:solidFill>
                <a:latin typeface="Segoe UI"/>
              </a:defRPr>
            </a:pPr>
            <a:r>
              <a:t>Redis AOF persistence buffers jobs during worker crashes; workers catch up automatically upon restart.</a:t>
            </a:r>
          </a:p>
        </p:txBody>
      </p:sp>
      <p:sp>
        <p:nvSpPr>
          <p:cNvPr id="18" name="Rounded Rectangle 17"/>
          <p:cNvSpPr/>
          <p:nvPr/>
        </p:nvSpPr>
        <p:spPr>
          <a:xfrm>
            <a:off x="3465576" y="4297680"/>
            <a:ext cx="2514600"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75304" y="4407408"/>
            <a:ext cx="2295144" cy="1517904"/>
          </a:xfrm>
          <a:prstGeom prst="rect">
            <a:avLst/>
          </a:prstGeom>
          <a:noFill/>
        </p:spPr>
        <p:txBody>
          <a:bodyPr wrap="square">
            <a:spAutoFit/>
          </a:bodyPr>
          <a:lstStyle/>
          <a:p>
            <a:pPr algn="l">
              <a:spcAft>
                <a:spcPts val="400"/>
              </a:spcAft>
              <a:defRPr sz="1100" b="1">
                <a:solidFill>
                  <a:srgbClr val="DC2626"/>
                </a:solidFill>
                <a:latin typeface="Segoe UI"/>
              </a:defRPr>
            </a:pPr>
            <a:r>
              <a:t>6. Dual-Layer Rate Limiting</a:t>
            </a:r>
          </a:p>
          <a:p>
            <a:pPr algn="l">
              <a:spcAft>
                <a:spcPts val="0"/>
              </a:spcAft>
              <a:defRPr sz="950" b="0">
                <a:solidFill>
                  <a:srgbClr val="334155"/>
                </a:solidFill>
                <a:latin typeface="Segoe UI"/>
              </a:defRPr>
            </a:pPr>
            <a:r>
              <a:t>Edge token-bucket (20 r/s burst 40) + Express limiter protect the cluster from sudden traffic collapse.</a:t>
            </a:r>
          </a:p>
        </p:txBody>
      </p:sp>
      <p:sp>
        <p:nvSpPr>
          <p:cNvPr id="20" name="Rounded Rectangle 19"/>
          <p:cNvSpPr/>
          <p:nvPr/>
        </p:nvSpPr>
        <p:spPr>
          <a:xfrm>
            <a:off x="6199632" y="4297680"/>
            <a:ext cx="2514600"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4407408"/>
            <a:ext cx="2295144" cy="1517904"/>
          </a:xfrm>
          <a:prstGeom prst="rect">
            <a:avLst/>
          </a:prstGeom>
          <a:noFill/>
        </p:spPr>
        <p:txBody>
          <a:bodyPr wrap="square">
            <a:spAutoFit/>
          </a:bodyPr>
          <a:lstStyle/>
          <a:p>
            <a:pPr algn="l">
              <a:spcAft>
                <a:spcPts val="400"/>
              </a:spcAft>
              <a:defRPr sz="1100" b="1">
                <a:solidFill>
                  <a:srgbClr val="635BFF"/>
                </a:solidFill>
                <a:latin typeface="Segoe UI"/>
              </a:defRPr>
            </a:pPr>
            <a:r>
              <a:t>7. Dynamic Scaling Simulation</a:t>
            </a:r>
          </a:p>
          <a:p>
            <a:pPr algn="l">
              <a:spcAft>
                <a:spcPts val="0"/>
              </a:spcAft>
              <a:defRPr sz="950" b="0">
                <a:solidFill>
                  <a:srgbClr val="334155"/>
                </a:solidFill>
                <a:latin typeface="Segoe UI"/>
              </a:defRPr>
            </a:pPr>
            <a:r>
              <a:t>Simulated worker pool dynamically expands from 2 to 10 workers based on real-time BullMQ backlog depth.</a:t>
            </a:r>
          </a:p>
        </p:txBody>
      </p:sp>
      <p:sp>
        <p:nvSpPr>
          <p:cNvPr id="22" name="Rounded Rectangle 21"/>
          <p:cNvSpPr/>
          <p:nvPr/>
        </p:nvSpPr>
        <p:spPr>
          <a:xfrm>
            <a:off x="8933688" y="4297680"/>
            <a:ext cx="2514600"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43416" y="4407408"/>
            <a:ext cx="2295144" cy="1517904"/>
          </a:xfrm>
          <a:prstGeom prst="rect">
            <a:avLst/>
          </a:prstGeom>
          <a:noFill/>
        </p:spPr>
        <p:txBody>
          <a:bodyPr wrap="square">
            <a:spAutoFit/>
          </a:bodyPr>
          <a:lstStyle/>
          <a:p>
            <a:pPr algn="l">
              <a:spcAft>
                <a:spcPts val="400"/>
              </a:spcAft>
              <a:defRPr sz="1100" b="1">
                <a:solidFill>
                  <a:srgbClr val="635BFF"/>
                </a:solidFill>
                <a:latin typeface="Segoe UI"/>
              </a:defRPr>
            </a:pPr>
            <a:r>
              <a:t>8. 1-Click Reproducibility &amp; Reset</a:t>
            </a:r>
          </a:p>
          <a:p>
            <a:pPr algn="l">
              <a:spcAft>
                <a:spcPts val="0"/>
              </a:spcAft>
              <a:defRPr sz="950" b="0">
                <a:solidFill>
                  <a:srgbClr val="334155"/>
                </a:solidFill>
                <a:latin typeface="Segoe UI"/>
              </a:defRPr>
            </a:pPr>
            <a:r>
              <a:t>Complete administrative reset endpoints and scripts restore system state instantly for clean demo reruns.</a:t>
            </a:r>
          </a:p>
        </p:txBody>
      </p:sp>
      <p:sp>
        <p:nvSpPr>
          <p:cNvPr id="24" name="TextBox 23"/>
          <p:cNvSpPr txBox="1"/>
          <p:nvPr/>
        </p:nvSpPr>
        <p:spPr>
          <a:xfrm>
            <a:off x="731520" y="6217920"/>
            <a:ext cx="10725912" cy="274320"/>
          </a:xfrm>
          <a:prstGeom prst="rect">
            <a:avLst/>
          </a:prstGeom>
          <a:noFill/>
        </p:spPr>
        <p:txBody>
          <a:bodyPr wrap="none">
            <a:spAutoFit/>
          </a:bodyPr>
          <a:lstStyle/>
          <a:p>
            <a:pPr algn="ctr">
              <a:spcAft>
                <a:spcPts val="0"/>
              </a:spcAft>
              <a:defRPr sz="1050" b="1">
                <a:solidFill>
                  <a:srgbClr val="64748B"/>
                </a:solidFill>
                <a:latin typeface="Segoe UI"/>
              </a:defRPr>
            </a:pPr>
            <a:r>
              <a:t>The Value: Not just individual tools, but how they interlock to create an uncrashable, zero-overbooking platform.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000" b="1">
                <a:solidFill>
                  <a:srgbClr val="635BFF"/>
                </a:solidFill>
                <a:latin typeface="Segoe UI"/>
              </a:defRPr>
            </a:pPr>
            <a:r>
              <a:t>COMPONENT RATIONALE &amp; FIT</a:t>
            </a:r>
          </a:p>
        </p:txBody>
      </p:sp>
      <p:sp>
        <p:nvSpPr>
          <p:cNvPr id="4" name="TextBox 3"/>
          <p:cNvSpPr txBox="1"/>
          <p:nvPr/>
        </p:nvSpPr>
        <p:spPr>
          <a:xfrm>
            <a:off x="731520" y="658368"/>
            <a:ext cx="9601200" cy="594360"/>
          </a:xfrm>
          <a:prstGeom prst="rect">
            <a:avLst/>
          </a:prstGeom>
          <a:noFill/>
        </p:spPr>
        <p:txBody>
          <a:bodyPr wrap="square" lIns="0" rIns="0" tIns="0" bIns="0">
            <a:spAutoFit/>
          </a:bodyPr>
          <a:lstStyle/>
          <a:p>
            <a:pPr>
              <a:defRPr sz="2100" b="1">
                <a:solidFill>
                  <a:srgbClr val="0F172A"/>
                </a:solidFill>
                <a:latin typeface="Segoe UI"/>
              </a:defRPr>
            </a:pPr>
            <a:r>
              <a:t>Technology Stack Selection: Architectural Justification</a:t>
            </a:r>
          </a:p>
        </p:txBody>
      </p:sp>
      <p:sp>
        <p:nvSpPr>
          <p:cNvPr id="5" name="TextBox 4"/>
          <p:cNvSpPr txBox="1"/>
          <p:nvPr/>
        </p:nvSpPr>
        <p:spPr>
          <a:xfrm>
            <a:off x="10515600" y="502920"/>
            <a:ext cx="914400" cy="365760"/>
          </a:xfrm>
          <a:prstGeom prst="rect">
            <a:avLst/>
          </a:prstGeom>
          <a:noFill/>
        </p:spPr>
        <p:txBody>
          <a:bodyPr wrap="square" lIns="0" rIns="0" tIns="0" bIns="0">
            <a:spAutoFit/>
          </a:bodyPr>
          <a:lstStyle/>
          <a:p>
            <a:pPr algn="r">
              <a:defRPr sz="1200" b="1">
                <a:solidFill>
                  <a:srgbClr val="64748B"/>
                </a:solidFill>
                <a:latin typeface="Segoe UI"/>
              </a:defRPr>
            </a:pPr>
            <a:r>
              <a:t>15 / 20</a:t>
            </a:r>
          </a:p>
        </p:txBody>
      </p:sp>
      <p:sp>
        <p:nvSpPr>
          <p:cNvPr id="6" name="Rounded Rectangle 5"/>
          <p:cNvSpPr/>
          <p:nvPr/>
        </p:nvSpPr>
        <p:spPr>
          <a:xfrm>
            <a:off x="731520" y="1371600"/>
            <a:ext cx="251460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481328"/>
            <a:ext cx="2295144" cy="1929384"/>
          </a:xfrm>
          <a:prstGeom prst="rect">
            <a:avLst/>
          </a:prstGeom>
          <a:noFill/>
        </p:spPr>
        <p:txBody>
          <a:bodyPr wrap="square">
            <a:spAutoFit/>
          </a:bodyPr>
          <a:lstStyle/>
          <a:p>
            <a:pPr algn="l">
              <a:spcAft>
                <a:spcPts val="200"/>
              </a:spcAft>
              <a:defRPr sz="1200" b="1">
                <a:solidFill>
                  <a:srgbClr val="2563EB"/>
                </a:solidFill>
                <a:latin typeface="Segoe UI"/>
              </a:defRPr>
            </a:pPr>
            <a:r>
              <a:t>Nginx 1.27 Alpine</a:t>
            </a:r>
          </a:p>
          <a:p>
            <a:pPr algn="l">
              <a:spcAft>
                <a:spcPts val="600"/>
              </a:spcAft>
              <a:defRPr sz="1000" b="1">
                <a:solidFill>
                  <a:srgbClr val="64748B"/>
                </a:solidFill>
                <a:latin typeface="Segoe UI"/>
              </a:defRPr>
            </a:pPr>
            <a:r>
              <a:t>Gateway &amp; Load Balancer</a:t>
            </a:r>
          </a:p>
          <a:p>
            <a:pPr algn="l">
              <a:spcAft>
                <a:spcPts val="0"/>
              </a:spcAft>
              <a:defRPr sz="950" b="0">
                <a:solidFill>
                  <a:srgbClr val="334155"/>
                </a:solidFill>
                <a:latin typeface="Segoe UI"/>
              </a:defRPr>
            </a:pPr>
            <a:r>
              <a:t>High-performance C-based reverse proxy, L7 round-robin load distribution, edge rate-limiting token bucket, and instant upstream failover.</a:t>
            </a:r>
          </a:p>
        </p:txBody>
      </p:sp>
      <p:sp>
        <p:nvSpPr>
          <p:cNvPr id="8" name="Rounded Rectangle 7"/>
          <p:cNvSpPr/>
          <p:nvPr/>
        </p:nvSpPr>
        <p:spPr>
          <a:xfrm>
            <a:off x="3465576" y="1371600"/>
            <a:ext cx="251460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75304" y="1481328"/>
            <a:ext cx="2295144" cy="1929384"/>
          </a:xfrm>
          <a:prstGeom prst="rect">
            <a:avLst/>
          </a:prstGeom>
          <a:noFill/>
        </p:spPr>
        <p:txBody>
          <a:bodyPr wrap="square">
            <a:spAutoFit/>
          </a:bodyPr>
          <a:lstStyle/>
          <a:p>
            <a:pPr algn="l">
              <a:spcAft>
                <a:spcPts val="200"/>
              </a:spcAft>
              <a:defRPr sz="1200" b="1">
                <a:solidFill>
                  <a:srgbClr val="2563EB"/>
                </a:solidFill>
                <a:latin typeface="Segoe UI"/>
              </a:defRPr>
            </a:pPr>
            <a:r>
              <a:t>Node.js 20 &amp; Express</a:t>
            </a:r>
          </a:p>
          <a:p>
            <a:pPr algn="l">
              <a:spcAft>
                <a:spcPts val="600"/>
              </a:spcAft>
              <a:defRPr sz="1000" b="1">
                <a:solidFill>
                  <a:srgbClr val="64748B"/>
                </a:solidFill>
                <a:latin typeface="Segoe UI"/>
              </a:defRPr>
            </a:pPr>
            <a:r>
              <a:t>Stateless API Cluster</a:t>
            </a:r>
          </a:p>
          <a:p>
            <a:pPr algn="l">
              <a:spcAft>
                <a:spcPts val="0"/>
              </a:spcAft>
              <a:defRPr sz="950" b="0">
                <a:solidFill>
                  <a:srgbClr val="334155"/>
                </a:solidFill>
                <a:latin typeface="Segoe UI"/>
              </a:defRPr>
            </a:pPr>
            <a:r>
              <a:t>Lightweight, non-blocking asynchronous event loop ideal for high-concurrency I/O multiplexing and rapid REST API response times.</a:t>
            </a:r>
          </a:p>
        </p:txBody>
      </p:sp>
      <p:sp>
        <p:nvSpPr>
          <p:cNvPr id="10" name="Rounded Rectangle 9"/>
          <p:cNvSpPr/>
          <p:nvPr/>
        </p:nvSpPr>
        <p:spPr>
          <a:xfrm>
            <a:off x="6199632" y="1371600"/>
            <a:ext cx="251460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481328"/>
            <a:ext cx="2295144" cy="1929384"/>
          </a:xfrm>
          <a:prstGeom prst="rect">
            <a:avLst/>
          </a:prstGeom>
          <a:noFill/>
        </p:spPr>
        <p:txBody>
          <a:bodyPr wrap="square">
            <a:spAutoFit/>
          </a:bodyPr>
          <a:lstStyle/>
          <a:p>
            <a:pPr algn="l">
              <a:spcAft>
                <a:spcPts val="200"/>
              </a:spcAft>
              <a:defRPr sz="1200" b="1">
                <a:solidFill>
                  <a:srgbClr val="16A34A"/>
                </a:solidFill>
                <a:latin typeface="Segoe UI"/>
              </a:defRPr>
            </a:pPr>
            <a:r>
              <a:t>PostgreSQL 16</a:t>
            </a:r>
          </a:p>
          <a:p>
            <a:pPr algn="l">
              <a:spcAft>
                <a:spcPts val="600"/>
              </a:spcAft>
              <a:defRPr sz="1000" b="1">
                <a:solidFill>
                  <a:srgbClr val="64748B"/>
                </a:solidFill>
                <a:latin typeface="Segoe UI"/>
              </a:defRPr>
            </a:pPr>
            <a:r>
              <a:t>ACID Data Storage</a:t>
            </a:r>
          </a:p>
          <a:p>
            <a:pPr algn="l">
              <a:spcAft>
                <a:spcPts val="0"/>
              </a:spcAft>
              <a:defRPr sz="950" b="0">
                <a:solidFill>
                  <a:srgbClr val="334155"/>
                </a:solidFill>
                <a:latin typeface="Segoe UI"/>
              </a:defRPr>
            </a:pPr>
            <a:r>
              <a:t>Enterprise relational database providing row-level locking (SELECT FOR UPDATE), transaction isolation, and strict check constraints.</a:t>
            </a:r>
          </a:p>
        </p:txBody>
      </p:sp>
      <p:sp>
        <p:nvSpPr>
          <p:cNvPr id="12" name="Rounded Rectangle 11"/>
          <p:cNvSpPr/>
          <p:nvPr/>
        </p:nvSpPr>
        <p:spPr>
          <a:xfrm>
            <a:off x="8933688" y="1371600"/>
            <a:ext cx="251460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43416" y="1481328"/>
            <a:ext cx="2295144" cy="1929384"/>
          </a:xfrm>
          <a:prstGeom prst="rect">
            <a:avLst/>
          </a:prstGeom>
          <a:noFill/>
        </p:spPr>
        <p:txBody>
          <a:bodyPr wrap="square">
            <a:spAutoFit/>
          </a:bodyPr>
          <a:lstStyle/>
          <a:p>
            <a:pPr algn="l">
              <a:spcAft>
                <a:spcPts val="200"/>
              </a:spcAft>
              <a:defRPr sz="1200" b="1">
                <a:solidFill>
                  <a:srgbClr val="16A34A"/>
                </a:solidFill>
                <a:latin typeface="Segoe UI"/>
              </a:defRPr>
            </a:pPr>
            <a:r>
              <a:t>Redis 7 Alpine</a:t>
            </a:r>
          </a:p>
          <a:p>
            <a:pPr algn="l">
              <a:spcAft>
                <a:spcPts val="600"/>
              </a:spcAft>
              <a:defRPr sz="1000" b="1">
                <a:solidFill>
                  <a:srgbClr val="64748B"/>
                </a:solidFill>
                <a:latin typeface="Segoe UI"/>
              </a:defRPr>
            </a:pPr>
            <a:r>
              <a:t>In-Memory Cache &amp; Broker</a:t>
            </a:r>
          </a:p>
          <a:p>
            <a:pPr algn="l">
              <a:spcAft>
                <a:spcPts val="0"/>
              </a:spcAft>
              <a:defRPr sz="950" b="0">
                <a:solidFill>
                  <a:srgbClr val="334155"/>
                </a:solidFill>
                <a:latin typeface="Segoe UI"/>
              </a:defRPr>
            </a:pPr>
            <a:r>
              <a:t>Sub-millisecond latency in-memory data store for event catalog caching (5s TTL) and durable queue backing with AOF persistence.</a:t>
            </a:r>
          </a:p>
        </p:txBody>
      </p:sp>
      <p:sp>
        <p:nvSpPr>
          <p:cNvPr id="14" name="Rounded Rectangle 13"/>
          <p:cNvSpPr/>
          <p:nvPr/>
        </p:nvSpPr>
        <p:spPr>
          <a:xfrm>
            <a:off x="731520" y="3749039"/>
            <a:ext cx="251460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3858767"/>
            <a:ext cx="2295144" cy="1929384"/>
          </a:xfrm>
          <a:prstGeom prst="rect">
            <a:avLst/>
          </a:prstGeom>
          <a:noFill/>
        </p:spPr>
        <p:txBody>
          <a:bodyPr wrap="square">
            <a:spAutoFit/>
          </a:bodyPr>
          <a:lstStyle/>
          <a:p>
            <a:pPr algn="l">
              <a:spcAft>
                <a:spcPts val="200"/>
              </a:spcAft>
              <a:defRPr sz="1200" b="1">
                <a:solidFill>
                  <a:srgbClr val="635BFF"/>
                </a:solidFill>
                <a:latin typeface="Segoe UI"/>
              </a:defRPr>
            </a:pPr>
            <a:r>
              <a:t>BullMQ 5</a:t>
            </a:r>
          </a:p>
          <a:p>
            <a:pPr algn="l">
              <a:spcAft>
                <a:spcPts val="600"/>
              </a:spcAft>
              <a:defRPr sz="1000" b="1">
                <a:solidFill>
                  <a:srgbClr val="64748B"/>
                </a:solidFill>
                <a:latin typeface="Segoe UI"/>
              </a:defRPr>
            </a:pPr>
            <a:r>
              <a:t>Distributed Async Queue</a:t>
            </a:r>
          </a:p>
          <a:p>
            <a:pPr algn="l">
              <a:spcAft>
                <a:spcPts val="0"/>
              </a:spcAft>
              <a:defRPr sz="950" b="0">
                <a:solidFill>
                  <a:srgbClr val="334155"/>
                </a:solidFill>
                <a:latin typeface="Segoe UI"/>
              </a:defRPr>
            </a:pPr>
            <a:r>
              <a:t>Robust Redis-based background job engine with exponential backoff retries, concurrency controls, and failure quarantine.</a:t>
            </a:r>
          </a:p>
        </p:txBody>
      </p:sp>
      <p:sp>
        <p:nvSpPr>
          <p:cNvPr id="16" name="Rounded Rectangle 15"/>
          <p:cNvSpPr/>
          <p:nvPr/>
        </p:nvSpPr>
        <p:spPr>
          <a:xfrm>
            <a:off x="3465576" y="3749039"/>
            <a:ext cx="251460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75304" y="3858767"/>
            <a:ext cx="2295144" cy="1929384"/>
          </a:xfrm>
          <a:prstGeom prst="rect">
            <a:avLst/>
          </a:prstGeom>
          <a:noFill/>
        </p:spPr>
        <p:txBody>
          <a:bodyPr wrap="square">
            <a:spAutoFit/>
          </a:bodyPr>
          <a:lstStyle/>
          <a:p>
            <a:pPr algn="l">
              <a:spcAft>
                <a:spcPts val="200"/>
              </a:spcAft>
              <a:defRPr sz="1200" b="1">
                <a:solidFill>
                  <a:srgbClr val="2563EB"/>
                </a:solidFill>
                <a:latin typeface="Segoe UI"/>
              </a:defRPr>
            </a:pPr>
            <a:r>
              <a:t>Docker &amp; Docker Compose</a:t>
            </a:r>
          </a:p>
          <a:p>
            <a:pPr algn="l">
              <a:spcAft>
                <a:spcPts val="600"/>
              </a:spcAft>
              <a:defRPr sz="1000" b="1">
                <a:solidFill>
                  <a:srgbClr val="64748B"/>
                </a:solidFill>
                <a:latin typeface="Segoe UI"/>
              </a:defRPr>
            </a:pPr>
            <a:r>
              <a:t>Container Orchestration</a:t>
            </a:r>
          </a:p>
          <a:p>
            <a:pPr algn="l">
              <a:spcAft>
                <a:spcPts val="0"/>
              </a:spcAft>
              <a:defRPr sz="950" b="0">
                <a:solidFill>
                  <a:srgbClr val="334155"/>
                </a:solidFill>
                <a:latin typeface="Segoe UI"/>
              </a:defRPr>
            </a:pPr>
            <a:r>
              <a:t>Isolated multi-container local stack mimicking production network topologies with deterministic healthchecks and dependencies.</a:t>
            </a:r>
          </a:p>
        </p:txBody>
      </p:sp>
      <p:sp>
        <p:nvSpPr>
          <p:cNvPr id="18" name="Rounded Rectangle 17"/>
          <p:cNvSpPr/>
          <p:nvPr/>
        </p:nvSpPr>
        <p:spPr>
          <a:xfrm>
            <a:off x="6199632" y="3749039"/>
            <a:ext cx="251460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3858767"/>
            <a:ext cx="2295144" cy="1929384"/>
          </a:xfrm>
          <a:prstGeom prst="rect">
            <a:avLst/>
          </a:prstGeom>
          <a:noFill/>
        </p:spPr>
        <p:txBody>
          <a:bodyPr wrap="square">
            <a:spAutoFit/>
          </a:bodyPr>
          <a:lstStyle/>
          <a:p>
            <a:pPr algn="l">
              <a:spcAft>
                <a:spcPts val="200"/>
              </a:spcAft>
              <a:defRPr sz="1200" b="1">
                <a:solidFill>
                  <a:srgbClr val="635BFF"/>
                </a:solidFill>
                <a:latin typeface="Segoe UI"/>
              </a:defRPr>
            </a:pPr>
            <a:r>
              <a:t>Prometheus (prom-client)</a:t>
            </a:r>
          </a:p>
          <a:p>
            <a:pPr algn="l">
              <a:spcAft>
                <a:spcPts val="600"/>
              </a:spcAft>
              <a:defRPr sz="1000" b="1">
                <a:solidFill>
                  <a:srgbClr val="64748B"/>
                </a:solidFill>
                <a:latin typeface="Segoe UI"/>
              </a:defRPr>
            </a:pPr>
            <a:r>
              <a:t>Metrics &amp; Telemetry</a:t>
            </a:r>
          </a:p>
          <a:p>
            <a:pPr algn="l">
              <a:spcAft>
                <a:spcPts val="0"/>
              </a:spcAft>
              <a:defRPr sz="950" b="0">
                <a:solidFill>
                  <a:srgbClr val="334155"/>
                </a:solidFill>
                <a:latin typeface="Segoe UI"/>
              </a:defRPr>
            </a:pPr>
            <a:r>
              <a:t>Industry-standard metrics instrumentation exposing HTTP request counters, registration results, and Node.js process metrics.</a:t>
            </a:r>
          </a:p>
        </p:txBody>
      </p:sp>
      <p:sp>
        <p:nvSpPr>
          <p:cNvPr id="20" name="Rounded Rectangle 19"/>
          <p:cNvSpPr/>
          <p:nvPr/>
        </p:nvSpPr>
        <p:spPr>
          <a:xfrm>
            <a:off x="8933688" y="3749039"/>
            <a:ext cx="251460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43416" y="3858767"/>
            <a:ext cx="2295144" cy="1929384"/>
          </a:xfrm>
          <a:prstGeom prst="rect">
            <a:avLst/>
          </a:prstGeom>
          <a:noFill/>
        </p:spPr>
        <p:txBody>
          <a:bodyPr wrap="square">
            <a:spAutoFit/>
          </a:bodyPr>
          <a:lstStyle/>
          <a:p>
            <a:pPr algn="l">
              <a:spcAft>
                <a:spcPts val="200"/>
              </a:spcAft>
              <a:defRPr sz="1200" b="1">
                <a:solidFill>
                  <a:srgbClr val="2563EB"/>
                </a:solidFill>
                <a:latin typeface="Segoe UI"/>
              </a:defRPr>
            </a:pPr>
            <a:r>
              <a:t>Bcrypt &amp; JSON Web Tokens</a:t>
            </a:r>
          </a:p>
          <a:p>
            <a:pPr algn="l">
              <a:spcAft>
                <a:spcPts val="600"/>
              </a:spcAft>
              <a:defRPr sz="1000" b="1">
                <a:solidFill>
                  <a:srgbClr val="64748B"/>
                </a:solidFill>
                <a:latin typeface="Segoe UI"/>
              </a:defRPr>
            </a:pPr>
            <a:r>
              <a:t>Authentication &amp; Security</a:t>
            </a:r>
          </a:p>
          <a:p>
            <a:pPr algn="l">
              <a:spcAft>
                <a:spcPts val="0"/>
              </a:spcAft>
              <a:defRPr sz="950" b="0">
                <a:solidFill>
                  <a:srgbClr val="334155"/>
                </a:solidFill>
                <a:latin typeface="Segoe UI"/>
              </a:defRPr>
            </a:pPr>
            <a:r>
              <a:t>Salted password hashing with bcrypt (12 rounds) and stateless signed JWTs enforcing role-based permissions (ATTENDEE vs ORGANIZER).</a:t>
            </a:r>
          </a:p>
        </p:txBody>
      </p:sp>
      <p:sp>
        <p:nvSpPr>
          <p:cNvPr id="22" name="TextBox 21"/>
          <p:cNvSpPr txBox="1"/>
          <p:nvPr/>
        </p:nvSpPr>
        <p:spPr>
          <a:xfrm>
            <a:off x="731520" y="6217920"/>
            <a:ext cx="10725912" cy="274320"/>
          </a:xfrm>
          <a:prstGeom prst="rect">
            <a:avLst/>
          </a:prstGeom>
          <a:noFill/>
        </p:spPr>
        <p:txBody>
          <a:bodyPr wrap="none">
            <a:spAutoFit/>
          </a:bodyPr>
          <a:lstStyle/>
          <a:p>
            <a:pPr algn="ctr">
              <a:spcAft>
                <a:spcPts val="0"/>
              </a:spcAft>
              <a:defRPr sz="1100" b="1">
                <a:solidFill>
                  <a:srgbClr val="16A34A"/>
                </a:solidFill>
                <a:latin typeface="Segoe UI"/>
              </a:defRPr>
            </a:pPr>
            <a:r>
              <a:t>Every technology was deliberately selected for maximum resilience, low latency, and zero vendor lock-in.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000" b="1">
                <a:solidFill>
                  <a:srgbClr val="635BFF"/>
                </a:solidFill>
                <a:latin typeface="Segoe UI"/>
              </a:defRPr>
            </a:pPr>
            <a:r>
              <a:t>REQUIREMENTS TRACEABILITY</a:t>
            </a:r>
          </a:p>
        </p:txBody>
      </p:sp>
      <p:sp>
        <p:nvSpPr>
          <p:cNvPr id="4" name="TextBox 3"/>
          <p:cNvSpPr txBox="1"/>
          <p:nvPr/>
        </p:nvSpPr>
        <p:spPr>
          <a:xfrm>
            <a:off x="731520" y="658368"/>
            <a:ext cx="9601200" cy="594360"/>
          </a:xfrm>
          <a:prstGeom prst="rect">
            <a:avLst/>
          </a:prstGeom>
          <a:noFill/>
        </p:spPr>
        <p:txBody>
          <a:bodyPr wrap="square" lIns="0" rIns="0" tIns="0" bIns="0">
            <a:spAutoFit/>
          </a:bodyPr>
          <a:lstStyle/>
          <a:p>
            <a:pPr>
              <a:defRPr sz="2100" b="1">
                <a:solidFill>
                  <a:srgbClr val="0F172A"/>
                </a:solidFill>
                <a:latin typeface="Segoe UI"/>
              </a:defRPr>
            </a:pPr>
            <a:r>
              <a:t>Official P1 Requirement Traceability &amp; Implementation Matrix</a:t>
            </a:r>
          </a:p>
        </p:txBody>
      </p:sp>
      <p:sp>
        <p:nvSpPr>
          <p:cNvPr id="5" name="TextBox 4"/>
          <p:cNvSpPr txBox="1"/>
          <p:nvPr/>
        </p:nvSpPr>
        <p:spPr>
          <a:xfrm>
            <a:off x="10515600" y="502920"/>
            <a:ext cx="914400" cy="365760"/>
          </a:xfrm>
          <a:prstGeom prst="rect">
            <a:avLst/>
          </a:prstGeom>
          <a:noFill/>
        </p:spPr>
        <p:txBody>
          <a:bodyPr wrap="square" lIns="0" rIns="0" tIns="0" bIns="0">
            <a:spAutoFit/>
          </a:bodyPr>
          <a:lstStyle/>
          <a:p>
            <a:pPr algn="r">
              <a:defRPr sz="1200" b="1">
                <a:solidFill>
                  <a:srgbClr val="64748B"/>
                </a:solidFill>
                <a:latin typeface="Segoe UI"/>
              </a:defRPr>
            </a:pPr>
            <a:r>
              <a:t>16 / 20</a:t>
            </a:r>
          </a:p>
        </p:txBody>
      </p:sp>
      <p:graphicFrame>
        <p:nvGraphicFramePr>
          <p:cNvPr id="6" name="Table 5"/>
          <p:cNvGraphicFramePr>
            <a:graphicFrameLocks noGrp="1"/>
          </p:cNvGraphicFramePr>
          <p:nvPr/>
        </p:nvGraphicFramePr>
        <p:xfrm>
          <a:off x="731520" y="1280160"/>
          <a:ext cx="10725912" cy="4937760"/>
        </p:xfrm>
        <a:graphic>
          <a:graphicData uri="http://schemas.openxmlformats.org/drawingml/2006/table">
            <a:tbl>
              <a:tblPr firstRow="1" bandRow="1">
                <a:tableStyleId>{5C22544A-7EE6-4342-B048-85BDC9FD1C3A}</a:tableStyleId>
              </a:tblPr>
              <a:tblGrid>
                <a:gridCol w="2011680"/>
                <a:gridCol w="2103120"/>
                <a:gridCol w="3383280"/>
                <a:gridCol w="1828800"/>
                <a:gridCol w="1399032"/>
              </a:tblGrid>
              <a:tr h="617220">
                <a:tc>
                  <a:txBody>
                    <a:bodyPr/>
                    <a:lstStyle/>
                    <a:p>
                      <a:pPr algn="l">
                        <a:spcAft>
                          <a:spcPts val="0"/>
                        </a:spcAft>
                        <a:defRPr sz="1100" b="1">
                          <a:solidFill>
                            <a:srgbClr val="FFFFFF"/>
                          </a:solidFill>
                          <a:latin typeface="Segoe UI"/>
                        </a:defRPr>
                      </a:pPr>
                      <a:r>
                        <a:t>P1 Requirement</a:t>
                      </a:r>
                    </a:p>
                  </a:txBody>
                  <a:tcPr>
                    <a:solidFill>
                      <a:srgbClr val="0F172A"/>
                    </a:solidFill>
                  </a:tcPr>
                </a:tc>
                <a:tc>
                  <a:txBody>
                    <a:bodyPr/>
                    <a:lstStyle/>
                    <a:p>
                      <a:pPr algn="l">
                        <a:spcAft>
                          <a:spcPts val="0"/>
                        </a:spcAft>
                        <a:defRPr sz="1100" b="1">
                          <a:solidFill>
                            <a:srgbClr val="FFFFFF"/>
                          </a:solidFill>
                          <a:latin typeface="Segoe UI"/>
                        </a:defRPr>
                      </a:pPr>
                      <a:r>
                        <a:t>Failure Condition</a:t>
                      </a:r>
                    </a:p>
                  </a:txBody>
                  <a:tcPr>
                    <a:solidFill>
                      <a:srgbClr val="0F172A"/>
                    </a:solidFill>
                  </a:tcPr>
                </a:tc>
                <a:tc>
                  <a:txBody>
                    <a:bodyPr/>
                    <a:lstStyle/>
                    <a:p>
                      <a:pPr algn="l">
                        <a:spcAft>
                          <a:spcPts val="0"/>
                        </a:spcAft>
                        <a:defRPr sz="1100" b="1">
                          <a:solidFill>
                            <a:srgbClr val="FFFFFF"/>
                          </a:solidFill>
                          <a:latin typeface="Segoe UI"/>
                        </a:defRPr>
                      </a:pPr>
                      <a:r>
                        <a:t>SurgeShield Engineering Solution</a:t>
                      </a:r>
                    </a:p>
                  </a:txBody>
                  <a:tcPr>
                    <a:solidFill>
                      <a:srgbClr val="0F172A"/>
                    </a:solidFill>
                  </a:tcPr>
                </a:tc>
                <a:tc>
                  <a:txBody>
                    <a:bodyPr/>
                    <a:lstStyle/>
                    <a:p>
                      <a:pPr algn="l">
                        <a:spcAft>
                          <a:spcPts val="0"/>
                        </a:spcAft>
                        <a:defRPr sz="1100" b="1">
                          <a:solidFill>
                            <a:srgbClr val="FFFFFF"/>
                          </a:solidFill>
                          <a:latin typeface="Segoe UI"/>
                        </a:defRPr>
                      </a:pPr>
                      <a:r>
                        <a:t>Technology</a:t>
                      </a:r>
                    </a:p>
                  </a:txBody>
                  <a:tcPr>
                    <a:solidFill>
                      <a:srgbClr val="0F172A"/>
                    </a:solidFill>
                  </a:tcPr>
                </a:tc>
                <a:tc>
                  <a:txBody>
                    <a:bodyPr/>
                    <a:lstStyle/>
                    <a:p>
                      <a:pPr algn="l">
                        <a:spcAft>
                          <a:spcPts val="0"/>
                        </a:spcAft>
                        <a:defRPr sz="1100" b="1">
                          <a:solidFill>
                            <a:srgbClr val="FFFFFF"/>
                          </a:solidFill>
                          <a:latin typeface="Segoe UI"/>
                        </a:defRPr>
                      </a:pPr>
                      <a:r>
                        <a:t>Status</a:t>
                      </a:r>
                    </a:p>
                  </a:txBody>
                  <a:tcPr>
                    <a:solidFill>
                      <a:srgbClr val="0F172A"/>
                    </a:solidFill>
                  </a:tcPr>
                </a:tc>
              </a:tr>
              <a:tr h="617220">
                <a:tc>
                  <a:txBody>
                    <a:bodyPr/>
                    <a:lstStyle/>
                    <a:p>
                      <a:pPr algn="l">
                        <a:spcAft>
                          <a:spcPts val="0"/>
                        </a:spcAft>
                        <a:defRPr sz="1000" b="1">
                          <a:solidFill>
                            <a:srgbClr val="0F172A"/>
                          </a:solidFill>
                          <a:latin typeface="Segoe UI"/>
                        </a:defRPr>
                      </a:pPr>
                      <a:r>
                        <a:t>Prevent overbooking</a:t>
                      </a:r>
                    </a:p>
                  </a:txBody>
                  <a:tcPr>
                    <a:solidFill>
                      <a:srgbClr val="FFFFFF"/>
                    </a:solidFill>
                  </a:tcPr>
                </a:tc>
                <a:tc>
                  <a:txBody>
                    <a:bodyPr/>
                    <a:lstStyle/>
                    <a:p>
                      <a:pPr algn="l">
                        <a:spcAft>
                          <a:spcPts val="0"/>
                        </a:spcAft>
                        <a:defRPr sz="1000" b="0">
                          <a:solidFill>
                            <a:srgbClr val="334155"/>
                          </a:solidFill>
                          <a:latin typeface="Segoe UI"/>
                        </a:defRPr>
                      </a:pPr>
                      <a:r>
                        <a:t>Concurrency contention on finite seats</a:t>
                      </a:r>
                    </a:p>
                  </a:txBody>
                  <a:tcPr>
                    <a:solidFill>
                      <a:srgbClr val="FFFFFF"/>
                    </a:solidFill>
                  </a:tcPr>
                </a:tc>
                <a:tc>
                  <a:txBody>
                    <a:bodyPr/>
                    <a:lstStyle/>
                    <a:p>
                      <a:pPr algn="l">
                        <a:spcAft>
                          <a:spcPts val="0"/>
                        </a:spcAft>
                        <a:defRPr sz="1000" b="0">
                          <a:solidFill>
                            <a:srgbClr val="334155"/>
                          </a:solidFill>
                          <a:latin typeface="Segoe UI"/>
                        </a:defRPr>
                      </a:pPr>
                      <a:r>
                        <a:t>Pessimistic row-locking (SELECT ... FOR UPDATE) + ACID rollback</a:t>
                      </a:r>
                    </a:p>
                  </a:txBody>
                  <a:tcPr>
                    <a:solidFill>
                      <a:srgbClr val="FFFFFF"/>
                    </a:solidFill>
                  </a:tcPr>
                </a:tc>
                <a:tc>
                  <a:txBody>
                    <a:bodyPr/>
                    <a:lstStyle/>
                    <a:p>
                      <a:pPr algn="l">
                        <a:spcAft>
                          <a:spcPts val="0"/>
                        </a:spcAft>
                        <a:defRPr sz="1000" b="0">
                          <a:solidFill>
                            <a:srgbClr val="334155"/>
                          </a:solidFill>
                          <a:latin typeface="Segoe UI"/>
                        </a:defRPr>
                      </a:pPr>
                      <a:r>
                        <a:t>PostgreSQL 16</a:t>
                      </a:r>
                    </a:p>
                  </a:txBody>
                  <a:tcPr>
                    <a:solidFill>
                      <a:srgbClr val="FFFFFF"/>
                    </a:solidFill>
                  </a:tcPr>
                </a:tc>
                <a:tc>
                  <a:txBody>
                    <a:bodyPr/>
                    <a:lstStyle/>
                    <a:p>
                      <a:pPr algn="l">
                        <a:spcAft>
                          <a:spcPts val="0"/>
                        </a:spcAft>
                        <a:defRPr sz="1000" b="1">
                          <a:solidFill>
                            <a:srgbClr val="16A34A"/>
                          </a:solidFill>
                          <a:latin typeface="Segoe UI"/>
                        </a:defRPr>
                      </a:pPr>
                      <a:r>
                        <a:t>IMPLEMENTED</a:t>
                      </a:r>
                    </a:p>
                  </a:txBody>
                  <a:tcPr>
                    <a:solidFill>
                      <a:srgbClr val="FFFFFF"/>
                    </a:solidFill>
                  </a:tcPr>
                </a:tc>
              </a:tr>
              <a:tr h="617220">
                <a:tc>
                  <a:txBody>
                    <a:bodyPr/>
                    <a:lstStyle/>
                    <a:p>
                      <a:pPr algn="l">
                        <a:spcAft>
                          <a:spcPts val="0"/>
                        </a:spcAft>
                        <a:defRPr sz="1000" b="1">
                          <a:solidFill>
                            <a:srgbClr val="0F172A"/>
                          </a:solidFill>
                          <a:latin typeface="Segoe UI"/>
                        </a:defRPr>
                      </a:pPr>
                      <a:r>
                        <a:t>Prevent duplicate orders</a:t>
                      </a:r>
                    </a:p>
                  </a:txBody>
                  <a:tcPr>
                    <a:solidFill>
                      <a:srgbClr val="F1F5F9"/>
                    </a:solidFill>
                  </a:tcPr>
                </a:tc>
                <a:tc>
                  <a:txBody>
                    <a:bodyPr/>
                    <a:lstStyle/>
                    <a:p>
                      <a:pPr algn="l">
                        <a:spcAft>
                          <a:spcPts val="0"/>
                        </a:spcAft>
                        <a:defRPr sz="1000" b="0">
                          <a:solidFill>
                            <a:srgbClr val="334155"/>
                          </a:solidFill>
                          <a:latin typeface="Segoe UI"/>
                        </a:defRPr>
                      </a:pPr>
                      <a:r>
                        <a:t>Network retries &amp; client double-clicks</a:t>
                      </a:r>
                    </a:p>
                  </a:txBody>
                  <a:tcPr>
                    <a:solidFill>
                      <a:srgbClr val="F1F5F9"/>
                    </a:solidFill>
                  </a:tcPr>
                </a:tc>
                <a:tc>
                  <a:txBody>
                    <a:bodyPr/>
                    <a:lstStyle/>
                    <a:p>
                      <a:pPr algn="l">
                        <a:spcAft>
                          <a:spcPts val="0"/>
                        </a:spcAft>
                        <a:defRPr sz="1000" b="0">
                          <a:solidFill>
                            <a:srgbClr val="334155"/>
                          </a:solidFill>
                          <a:latin typeface="Segoe UI"/>
                        </a:defRPr>
                      </a:pPr>
                      <a:r>
                        <a:t>Client Idempotency-Key header + UNIQUE(event_id, idempotency_key)</a:t>
                      </a:r>
                    </a:p>
                  </a:txBody>
                  <a:tcPr>
                    <a:solidFill>
                      <a:srgbClr val="F1F5F9"/>
                    </a:solidFill>
                  </a:tcPr>
                </a:tc>
                <a:tc>
                  <a:txBody>
                    <a:bodyPr/>
                    <a:lstStyle/>
                    <a:p>
                      <a:pPr algn="l">
                        <a:spcAft>
                          <a:spcPts val="0"/>
                        </a:spcAft>
                        <a:defRPr sz="1000" b="0">
                          <a:solidFill>
                            <a:srgbClr val="334155"/>
                          </a:solidFill>
                          <a:latin typeface="Segoe UI"/>
                        </a:defRPr>
                      </a:pPr>
                      <a:r>
                        <a:t>PostgreSQL / Express</a:t>
                      </a:r>
                    </a:p>
                  </a:txBody>
                  <a:tcPr>
                    <a:solidFill>
                      <a:srgbClr val="F1F5F9"/>
                    </a:solidFill>
                  </a:tcPr>
                </a:tc>
                <a:tc>
                  <a:txBody>
                    <a:bodyPr/>
                    <a:lstStyle/>
                    <a:p>
                      <a:pPr algn="l">
                        <a:spcAft>
                          <a:spcPts val="0"/>
                        </a:spcAft>
                        <a:defRPr sz="1000" b="1">
                          <a:solidFill>
                            <a:srgbClr val="16A34A"/>
                          </a:solidFill>
                          <a:latin typeface="Segoe UI"/>
                        </a:defRPr>
                      </a:pPr>
                      <a:r>
                        <a:t>IMPLEMENTED</a:t>
                      </a:r>
                    </a:p>
                  </a:txBody>
                  <a:tcPr>
                    <a:solidFill>
                      <a:srgbClr val="F1F5F9"/>
                    </a:solidFill>
                  </a:tcPr>
                </a:tc>
              </a:tr>
              <a:tr h="617220">
                <a:tc>
                  <a:txBody>
                    <a:bodyPr/>
                    <a:lstStyle/>
                    <a:p>
                      <a:pPr algn="l">
                        <a:spcAft>
                          <a:spcPts val="0"/>
                        </a:spcAft>
                        <a:defRPr sz="1000" b="1">
                          <a:solidFill>
                            <a:srgbClr val="0F172A"/>
                          </a:solidFill>
                          <a:latin typeface="Segoe UI"/>
                        </a:defRPr>
                      </a:pPr>
                      <a:r>
                        <a:t>Absorb peak traffic surges</a:t>
                      </a:r>
                    </a:p>
                  </a:txBody>
                  <a:tcPr>
                    <a:solidFill>
                      <a:srgbClr val="FFFFFF"/>
                    </a:solidFill>
                  </a:tcPr>
                </a:tc>
                <a:tc>
                  <a:txBody>
                    <a:bodyPr/>
                    <a:lstStyle/>
                    <a:p>
                      <a:pPr algn="l">
                        <a:spcAft>
                          <a:spcPts val="0"/>
                        </a:spcAft>
                        <a:defRPr sz="1000" b="0">
                          <a:solidFill>
                            <a:srgbClr val="334155"/>
                          </a:solidFill>
                          <a:latin typeface="Segoe UI"/>
                        </a:defRPr>
                      </a:pPr>
                      <a:r>
                        <a:t>Slow synchronous notification delays</a:t>
                      </a:r>
                    </a:p>
                  </a:txBody>
                  <a:tcPr>
                    <a:solidFill>
                      <a:srgbClr val="FFFFFF"/>
                    </a:solidFill>
                  </a:tcPr>
                </a:tc>
                <a:tc>
                  <a:txBody>
                    <a:bodyPr/>
                    <a:lstStyle/>
                    <a:p>
                      <a:pPr algn="l">
                        <a:spcAft>
                          <a:spcPts val="0"/>
                        </a:spcAft>
                        <a:defRPr sz="1000" b="0">
                          <a:solidFill>
                            <a:srgbClr val="334155"/>
                          </a:solidFill>
                          <a:latin typeface="Segoe UI"/>
                        </a:defRPr>
                      </a:pPr>
                      <a:r>
                        <a:t>Decoupled async job queue + Transactional Outbox pattern</a:t>
                      </a:r>
                    </a:p>
                  </a:txBody>
                  <a:tcPr>
                    <a:solidFill>
                      <a:srgbClr val="FFFFFF"/>
                    </a:solidFill>
                  </a:tcPr>
                </a:tc>
                <a:tc>
                  <a:txBody>
                    <a:bodyPr/>
                    <a:lstStyle/>
                    <a:p>
                      <a:pPr algn="l">
                        <a:spcAft>
                          <a:spcPts val="0"/>
                        </a:spcAft>
                        <a:defRPr sz="1000" b="0">
                          <a:solidFill>
                            <a:srgbClr val="334155"/>
                          </a:solidFill>
                          <a:latin typeface="Segoe UI"/>
                        </a:defRPr>
                      </a:pPr>
                      <a:r>
                        <a:t>BullMQ + Redis 7</a:t>
                      </a:r>
                    </a:p>
                  </a:txBody>
                  <a:tcPr>
                    <a:solidFill>
                      <a:srgbClr val="FFFFFF"/>
                    </a:solidFill>
                  </a:tcPr>
                </a:tc>
                <a:tc>
                  <a:txBody>
                    <a:bodyPr/>
                    <a:lstStyle/>
                    <a:p>
                      <a:pPr algn="l">
                        <a:spcAft>
                          <a:spcPts val="0"/>
                        </a:spcAft>
                        <a:defRPr sz="1000" b="1">
                          <a:solidFill>
                            <a:srgbClr val="16A34A"/>
                          </a:solidFill>
                          <a:latin typeface="Segoe UI"/>
                        </a:defRPr>
                      </a:pPr>
                      <a:r>
                        <a:t>IMPLEMENTED</a:t>
                      </a:r>
                    </a:p>
                  </a:txBody>
                  <a:tcPr>
                    <a:solidFill>
                      <a:srgbClr val="FFFFFF"/>
                    </a:solidFill>
                  </a:tcPr>
                </a:tc>
              </a:tr>
              <a:tr h="617220">
                <a:tc>
                  <a:txBody>
                    <a:bodyPr/>
                    <a:lstStyle/>
                    <a:p>
                      <a:pPr algn="l">
                        <a:spcAft>
                          <a:spcPts val="0"/>
                        </a:spcAft>
                        <a:defRPr sz="1000" b="1">
                          <a:solidFill>
                            <a:srgbClr val="0F172A"/>
                          </a:solidFill>
                          <a:latin typeface="Segoe UI"/>
                        </a:defRPr>
                      </a:pPr>
                      <a:r>
                        <a:t>Distribute traffic across nodes</a:t>
                      </a:r>
                    </a:p>
                  </a:txBody>
                  <a:tcPr>
                    <a:solidFill>
                      <a:srgbClr val="F1F5F9"/>
                    </a:solidFill>
                  </a:tcPr>
                </a:tc>
                <a:tc>
                  <a:txBody>
                    <a:bodyPr/>
                    <a:lstStyle/>
                    <a:p>
                      <a:pPr algn="l">
                        <a:spcAft>
                          <a:spcPts val="0"/>
                        </a:spcAft>
                        <a:defRPr sz="1000" b="0">
                          <a:solidFill>
                            <a:srgbClr val="334155"/>
                          </a:solidFill>
                          <a:latin typeface="Segoe UI"/>
                        </a:defRPr>
                      </a:pPr>
                      <a:r>
                        <a:t>Single-server CPU/memory saturation</a:t>
                      </a:r>
                    </a:p>
                  </a:txBody>
                  <a:tcPr>
                    <a:solidFill>
                      <a:srgbClr val="F1F5F9"/>
                    </a:solidFill>
                  </a:tcPr>
                </a:tc>
                <a:tc>
                  <a:txBody>
                    <a:bodyPr/>
                    <a:lstStyle/>
                    <a:p>
                      <a:pPr algn="l">
                        <a:spcAft>
                          <a:spcPts val="0"/>
                        </a:spcAft>
                        <a:defRPr sz="1000" b="0">
                          <a:solidFill>
                            <a:srgbClr val="334155"/>
                          </a:solidFill>
                          <a:latin typeface="Segoe UI"/>
                        </a:defRPr>
                      </a:pPr>
                      <a:r>
                        <a:t>L7 Reverse Proxy with round-robin load distribution &amp; failover</a:t>
                      </a:r>
                    </a:p>
                  </a:txBody>
                  <a:tcPr>
                    <a:solidFill>
                      <a:srgbClr val="F1F5F9"/>
                    </a:solidFill>
                  </a:tcPr>
                </a:tc>
                <a:tc>
                  <a:txBody>
                    <a:bodyPr/>
                    <a:lstStyle/>
                    <a:p>
                      <a:pPr algn="l">
                        <a:spcAft>
                          <a:spcPts val="0"/>
                        </a:spcAft>
                        <a:defRPr sz="1000" b="0">
                          <a:solidFill>
                            <a:srgbClr val="334155"/>
                          </a:solidFill>
                          <a:latin typeface="Segoe UI"/>
                        </a:defRPr>
                      </a:pPr>
                      <a:r>
                        <a:t>Nginx 1.27 Alpine</a:t>
                      </a:r>
                    </a:p>
                  </a:txBody>
                  <a:tcPr>
                    <a:solidFill>
                      <a:srgbClr val="F1F5F9"/>
                    </a:solidFill>
                  </a:tcPr>
                </a:tc>
                <a:tc>
                  <a:txBody>
                    <a:bodyPr/>
                    <a:lstStyle/>
                    <a:p>
                      <a:pPr algn="l">
                        <a:spcAft>
                          <a:spcPts val="0"/>
                        </a:spcAft>
                        <a:defRPr sz="1000" b="1">
                          <a:solidFill>
                            <a:srgbClr val="16A34A"/>
                          </a:solidFill>
                          <a:latin typeface="Segoe UI"/>
                        </a:defRPr>
                      </a:pPr>
                      <a:r>
                        <a:t>IMPLEMENTED</a:t>
                      </a:r>
                    </a:p>
                  </a:txBody>
                  <a:tcPr>
                    <a:solidFill>
                      <a:srgbClr val="F1F5F9"/>
                    </a:solidFill>
                  </a:tcPr>
                </a:tc>
              </a:tr>
              <a:tr h="617220">
                <a:tc>
                  <a:txBody>
                    <a:bodyPr/>
                    <a:lstStyle/>
                    <a:p>
                      <a:pPr algn="l">
                        <a:spcAft>
                          <a:spcPts val="0"/>
                        </a:spcAft>
                        <a:defRPr sz="1000" b="1">
                          <a:solidFill>
                            <a:srgbClr val="0F172A"/>
                          </a:solidFill>
                          <a:latin typeface="Segoe UI"/>
                        </a:defRPr>
                      </a:pPr>
                      <a:r>
                        <a:t>Rate limit surge bursts</a:t>
                      </a:r>
                    </a:p>
                  </a:txBody>
                  <a:tcPr>
                    <a:solidFill>
                      <a:srgbClr val="FFFFFF"/>
                    </a:solidFill>
                  </a:tcPr>
                </a:tc>
                <a:tc>
                  <a:txBody>
                    <a:bodyPr/>
                    <a:lstStyle/>
                    <a:p>
                      <a:pPr algn="l">
                        <a:spcAft>
                          <a:spcPts val="0"/>
                        </a:spcAft>
                        <a:defRPr sz="1000" b="0">
                          <a:solidFill>
                            <a:srgbClr val="334155"/>
                          </a:solidFill>
                          <a:latin typeface="Segoe UI"/>
                        </a:defRPr>
                      </a:pPr>
                      <a:r>
                        <a:t>Abnormal burst traffic / DDoS collapse</a:t>
                      </a:r>
                    </a:p>
                  </a:txBody>
                  <a:tcPr>
                    <a:solidFill>
                      <a:srgbClr val="FFFFFF"/>
                    </a:solidFill>
                  </a:tcPr>
                </a:tc>
                <a:tc>
                  <a:txBody>
                    <a:bodyPr/>
                    <a:lstStyle/>
                    <a:p>
                      <a:pPr algn="l">
                        <a:spcAft>
                          <a:spcPts val="0"/>
                        </a:spcAft>
                        <a:defRPr sz="1000" b="0">
                          <a:solidFill>
                            <a:srgbClr val="334155"/>
                          </a:solidFill>
                          <a:latin typeface="Segoe UI"/>
                        </a:defRPr>
                      </a:pPr>
                      <a:r>
                        <a:t>Dual-layer token-bucket (20 r/s) + Express cluster limiter</a:t>
                      </a:r>
                    </a:p>
                  </a:txBody>
                  <a:tcPr>
                    <a:solidFill>
                      <a:srgbClr val="FFFFFF"/>
                    </a:solidFill>
                  </a:tcPr>
                </a:tc>
                <a:tc>
                  <a:txBody>
                    <a:bodyPr/>
                    <a:lstStyle/>
                    <a:p>
                      <a:pPr algn="l">
                        <a:spcAft>
                          <a:spcPts val="0"/>
                        </a:spcAft>
                        <a:defRPr sz="1000" b="0">
                          <a:solidFill>
                            <a:srgbClr val="334155"/>
                          </a:solidFill>
                          <a:latin typeface="Segoe UI"/>
                        </a:defRPr>
                      </a:pPr>
                      <a:r>
                        <a:t>Nginx + Express</a:t>
                      </a:r>
                    </a:p>
                  </a:txBody>
                  <a:tcPr>
                    <a:solidFill>
                      <a:srgbClr val="FFFFFF"/>
                    </a:solidFill>
                  </a:tcPr>
                </a:tc>
                <a:tc>
                  <a:txBody>
                    <a:bodyPr/>
                    <a:lstStyle/>
                    <a:p>
                      <a:pPr algn="l">
                        <a:spcAft>
                          <a:spcPts val="0"/>
                        </a:spcAft>
                        <a:defRPr sz="1000" b="1">
                          <a:solidFill>
                            <a:srgbClr val="16A34A"/>
                          </a:solidFill>
                          <a:latin typeface="Segoe UI"/>
                        </a:defRPr>
                      </a:pPr>
                      <a:r>
                        <a:t>IMPLEMENTED</a:t>
                      </a:r>
                    </a:p>
                  </a:txBody>
                  <a:tcPr>
                    <a:solidFill>
                      <a:srgbClr val="FFFFFF"/>
                    </a:solidFill>
                  </a:tcPr>
                </a:tc>
              </a:tr>
              <a:tr h="617220">
                <a:tc>
                  <a:txBody>
                    <a:bodyPr/>
                    <a:lstStyle/>
                    <a:p>
                      <a:pPr algn="l">
                        <a:spcAft>
                          <a:spcPts val="0"/>
                        </a:spcAft>
                        <a:defRPr sz="1000" b="1">
                          <a:solidFill>
                            <a:srgbClr val="0F172A"/>
                          </a:solidFill>
                          <a:latin typeface="Segoe UI"/>
                        </a:defRPr>
                      </a:pPr>
                      <a:r>
                        <a:t>Add/remove worker capacity</a:t>
                      </a:r>
                    </a:p>
                  </a:txBody>
                  <a:tcPr>
                    <a:solidFill>
                      <a:srgbClr val="F1F5F9"/>
                    </a:solidFill>
                  </a:tcPr>
                </a:tc>
                <a:tc>
                  <a:txBody>
                    <a:bodyPr/>
                    <a:lstStyle/>
                    <a:p>
                      <a:pPr algn="l">
                        <a:spcAft>
                          <a:spcPts val="0"/>
                        </a:spcAft>
                        <a:defRPr sz="1000" b="0">
                          <a:solidFill>
                            <a:srgbClr val="334155"/>
                          </a:solidFill>
                          <a:latin typeface="Segoe UI"/>
                        </a:defRPr>
                      </a:pPr>
                      <a:r>
                        <a:t>Capacity mismatch during surges</a:t>
                      </a:r>
                    </a:p>
                  </a:txBody>
                  <a:tcPr>
                    <a:solidFill>
                      <a:srgbClr val="F1F5F9"/>
                    </a:solidFill>
                  </a:tcPr>
                </a:tc>
                <a:tc>
                  <a:txBody>
                    <a:bodyPr/>
                    <a:lstStyle/>
                    <a:p>
                      <a:pPr algn="l">
                        <a:spcAft>
                          <a:spcPts val="0"/>
                        </a:spcAft>
                        <a:defRPr sz="1000" b="0">
                          <a:solidFill>
                            <a:srgbClr val="334155"/>
                          </a:solidFill>
                          <a:latin typeface="Segoe UI"/>
                        </a:defRPr>
                      </a:pPr>
                      <a:r>
                        <a:t>Queue-depth reactive virtual worker pool (2 to 10) + K8s HPA manifest</a:t>
                      </a:r>
                    </a:p>
                  </a:txBody>
                  <a:tcPr>
                    <a:solidFill>
                      <a:srgbClr val="F1F5F9"/>
                    </a:solidFill>
                  </a:tcPr>
                </a:tc>
                <a:tc>
                  <a:txBody>
                    <a:bodyPr/>
                    <a:lstStyle/>
                    <a:p>
                      <a:pPr algn="l">
                        <a:spcAft>
                          <a:spcPts val="0"/>
                        </a:spcAft>
                        <a:defRPr sz="1000" b="0">
                          <a:solidFill>
                            <a:srgbClr val="334155"/>
                          </a:solidFill>
                          <a:latin typeface="Segoe UI"/>
                        </a:defRPr>
                      </a:pPr>
                      <a:r>
                        <a:t>BullMQ / K8s HPA</a:t>
                      </a:r>
                    </a:p>
                  </a:txBody>
                  <a:tcPr>
                    <a:solidFill>
                      <a:srgbClr val="F1F5F9"/>
                    </a:solidFill>
                  </a:tcPr>
                </a:tc>
                <a:tc>
                  <a:txBody>
                    <a:bodyPr/>
                    <a:lstStyle/>
                    <a:p>
                      <a:pPr algn="l">
                        <a:spcAft>
                          <a:spcPts val="0"/>
                        </a:spcAft>
                        <a:defRPr sz="1000" b="1">
                          <a:solidFill>
                            <a:srgbClr val="635BFF"/>
                          </a:solidFill>
                          <a:latin typeface="Segoe UI"/>
                        </a:defRPr>
                      </a:pPr>
                      <a:r>
                        <a:t>SIMULATED + K8S</a:t>
                      </a:r>
                    </a:p>
                  </a:txBody>
                  <a:tcPr>
                    <a:solidFill>
                      <a:srgbClr val="F1F5F9"/>
                    </a:solidFill>
                  </a:tcPr>
                </a:tc>
              </a:tr>
              <a:tr h="617220">
                <a:tc>
                  <a:txBody>
                    <a:bodyPr/>
                    <a:lstStyle/>
                    <a:p>
                      <a:pPr algn="l">
                        <a:spcAft>
                          <a:spcPts val="0"/>
                        </a:spcAft>
                        <a:defRPr sz="1000" b="1">
                          <a:solidFill>
                            <a:srgbClr val="0F172A"/>
                          </a:solidFill>
                          <a:latin typeface="Segoe UI"/>
                        </a:defRPr>
                      </a:pPr>
                      <a:r>
                        <a:t>Detect unhealthy services</a:t>
                      </a:r>
                    </a:p>
                  </a:txBody>
                  <a:tcPr>
                    <a:solidFill>
                      <a:srgbClr val="FFFFFF"/>
                    </a:solidFill>
                  </a:tcPr>
                </a:tc>
                <a:tc>
                  <a:txBody>
                    <a:bodyPr/>
                    <a:lstStyle/>
                    <a:p>
                      <a:pPr algn="l">
                        <a:spcAft>
                          <a:spcPts val="0"/>
                        </a:spcAft>
                        <a:defRPr sz="1000" b="0">
                          <a:solidFill>
                            <a:srgbClr val="334155"/>
                          </a:solidFill>
                          <a:latin typeface="Segoe UI"/>
                        </a:defRPr>
                      </a:pPr>
                      <a:r>
                        <a:t>Silent worker or node crashes</a:t>
                      </a:r>
                    </a:p>
                  </a:txBody>
                  <a:tcPr>
                    <a:solidFill>
                      <a:srgbClr val="FFFFFF"/>
                    </a:solidFill>
                  </a:tcPr>
                </a:tc>
                <a:tc>
                  <a:txBody>
                    <a:bodyPr/>
                    <a:lstStyle/>
                    <a:p>
                      <a:pPr algn="l">
                        <a:spcAft>
                          <a:spcPts val="0"/>
                        </a:spcAft>
                        <a:defRPr sz="1000" b="0">
                          <a:solidFill>
                            <a:srgbClr val="334155"/>
                          </a:solidFill>
                          <a:latin typeface="Segoe UI"/>
                        </a:defRPr>
                      </a:pPr>
                      <a:r>
                        <a:t>Composite /health probe (DB + Redis + Heartbeat) &amp; auto-failover</a:t>
                      </a:r>
                    </a:p>
                  </a:txBody>
                  <a:tcPr>
                    <a:solidFill>
                      <a:srgbClr val="FFFFFF"/>
                    </a:solidFill>
                  </a:tcPr>
                </a:tc>
                <a:tc>
                  <a:txBody>
                    <a:bodyPr/>
                    <a:lstStyle/>
                    <a:p>
                      <a:pPr algn="l">
                        <a:spcAft>
                          <a:spcPts val="0"/>
                        </a:spcAft>
                        <a:defRPr sz="1000" b="0">
                          <a:solidFill>
                            <a:srgbClr val="334155"/>
                          </a:solidFill>
                          <a:latin typeface="Segoe UI"/>
                        </a:defRPr>
                      </a:pPr>
                      <a:r>
                        <a:t>Redis TTL + Nginx</a:t>
                      </a:r>
                    </a:p>
                  </a:txBody>
                  <a:tcPr>
                    <a:solidFill>
                      <a:srgbClr val="FFFFFF"/>
                    </a:solidFill>
                  </a:tcPr>
                </a:tc>
                <a:tc>
                  <a:txBody>
                    <a:bodyPr/>
                    <a:lstStyle/>
                    <a:p>
                      <a:pPr algn="l">
                        <a:spcAft>
                          <a:spcPts val="0"/>
                        </a:spcAft>
                        <a:defRPr sz="1000" b="1">
                          <a:solidFill>
                            <a:srgbClr val="16A34A"/>
                          </a:solidFill>
                          <a:latin typeface="Segoe UI"/>
                        </a:defRPr>
                      </a:pPr>
                      <a:r>
                        <a:t>IMPLEMENTED</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000" b="1">
                <a:solidFill>
                  <a:srgbClr val="635BFF"/>
                </a:solidFill>
                <a:latin typeface="Segoe UI"/>
              </a:defRPr>
            </a:pPr>
            <a:r>
              <a:t>ARCHITECTURAL TRANSFORMATION</a:t>
            </a:r>
          </a:p>
        </p:txBody>
      </p:sp>
      <p:sp>
        <p:nvSpPr>
          <p:cNvPr id="4" name="TextBox 3"/>
          <p:cNvSpPr txBox="1"/>
          <p:nvPr/>
        </p:nvSpPr>
        <p:spPr>
          <a:xfrm>
            <a:off x="731520" y="658368"/>
            <a:ext cx="9601200" cy="594360"/>
          </a:xfrm>
          <a:prstGeom prst="rect">
            <a:avLst/>
          </a:prstGeom>
          <a:noFill/>
        </p:spPr>
        <p:txBody>
          <a:bodyPr wrap="square" lIns="0" rIns="0" tIns="0" bIns="0">
            <a:spAutoFit/>
          </a:bodyPr>
          <a:lstStyle/>
          <a:p>
            <a:pPr>
              <a:defRPr sz="2100" b="1">
                <a:solidFill>
                  <a:srgbClr val="0F172A"/>
                </a:solidFill>
                <a:latin typeface="Segoe UI"/>
              </a:defRPr>
            </a:pPr>
            <a:r>
              <a:t>Transformation Benchmark: Naive Baseline vs. SurgeShield</a:t>
            </a:r>
          </a:p>
        </p:txBody>
      </p:sp>
      <p:sp>
        <p:nvSpPr>
          <p:cNvPr id="5" name="TextBox 4"/>
          <p:cNvSpPr txBox="1"/>
          <p:nvPr/>
        </p:nvSpPr>
        <p:spPr>
          <a:xfrm>
            <a:off x="10515600" y="502920"/>
            <a:ext cx="914400" cy="365760"/>
          </a:xfrm>
          <a:prstGeom prst="rect">
            <a:avLst/>
          </a:prstGeom>
          <a:noFill/>
        </p:spPr>
        <p:txBody>
          <a:bodyPr wrap="square" lIns="0" rIns="0" tIns="0" bIns="0">
            <a:spAutoFit/>
          </a:bodyPr>
          <a:lstStyle/>
          <a:p>
            <a:pPr algn="r">
              <a:defRPr sz="1200" b="1">
                <a:solidFill>
                  <a:srgbClr val="64748B"/>
                </a:solidFill>
                <a:latin typeface="Segoe UI"/>
              </a:defRPr>
            </a:pPr>
            <a:r>
              <a:t>17 / 20</a:t>
            </a:r>
          </a:p>
        </p:txBody>
      </p:sp>
      <p:sp>
        <p:nvSpPr>
          <p:cNvPr id="6" name="Rounded Rectangle 5"/>
          <p:cNvSpPr/>
          <p:nvPr/>
        </p:nvSpPr>
        <p:spPr>
          <a:xfrm>
            <a:off x="731520" y="1280160"/>
            <a:ext cx="5166360" cy="484632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20"/>
            <a:ext cx="4709160" cy="4572000"/>
          </a:xfrm>
          <a:prstGeom prst="rect">
            <a:avLst/>
          </a:prstGeom>
          <a:noFill/>
        </p:spPr>
        <p:txBody>
          <a:bodyPr wrap="square">
            <a:spAutoFit/>
          </a:bodyPr>
          <a:lstStyle/>
          <a:p>
            <a:pPr algn="l">
              <a:spcAft>
                <a:spcPts val="1000"/>
              </a:spcAft>
              <a:defRPr sz="1600" b="1">
                <a:solidFill>
                  <a:srgbClr val="DC2626"/>
                </a:solidFill>
                <a:latin typeface="Segoe UI"/>
              </a:defRPr>
            </a:pPr>
            <a:r>
              <a:t>NORMAL / NAIVE SYSTEM ❌</a:t>
            </a:r>
          </a:p>
          <a:p>
            <a:pPr algn="l">
              <a:spcAft>
                <a:spcPts val="100"/>
              </a:spcAft>
              <a:defRPr sz="1150" b="1">
                <a:solidFill>
                  <a:srgbClr val="DC2626"/>
                </a:solidFill>
                <a:latin typeface="Segoe UI"/>
              </a:defRPr>
            </a:pPr>
            <a:r>
              <a:t>- Single Server SPOF:</a:t>
            </a:r>
          </a:p>
          <a:p>
            <a:pPr algn="l">
              <a:spcAft>
                <a:spcPts val="600"/>
              </a:spcAft>
              <a:defRPr sz="1000" b="0">
                <a:solidFill>
                  <a:srgbClr val="334155"/>
                </a:solidFill>
                <a:latin typeface="Segoe UI"/>
              </a:defRPr>
            </a:pPr>
            <a:r>
              <a:t>   One Node.js process handles traffic; crash terminates 100% of user sessions.</a:t>
            </a:r>
          </a:p>
          <a:p>
            <a:pPr algn="l">
              <a:spcAft>
                <a:spcPts val="100"/>
              </a:spcAft>
              <a:defRPr sz="1150" b="1">
                <a:solidFill>
                  <a:srgbClr val="DC2626"/>
                </a:solidFill>
                <a:latin typeface="Segoe UI"/>
              </a:defRPr>
            </a:pPr>
            <a:r>
              <a:t>- Direct Unlocked DB Updates:</a:t>
            </a:r>
          </a:p>
          <a:p>
            <a:pPr algn="l">
              <a:spcAft>
                <a:spcPts val="600"/>
              </a:spcAft>
              <a:defRPr sz="1000" b="0">
                <a:solidFill>
                  <a:srgbClr val="334155"/>
                </a:solidFill>
                <a:latin typeface="Segoe UI"/>
              </a:defRPr>
            </a:pPr>
            <a:r>
              <a:t>   Executes `SELECT` then `UPDATE` without locks. Results in massive overbooking and negative seats.</a:t>
            </a:r>
          </a:p>
          <a:p>
            <a:pPr algn="l">
              <a:spcAft>
                <a:spcPts val="100"/>
              </a:spcAft>
              <a:defRPr sz="1150" b="1">
                <a:solidFill>
                  <a:srgbClr val="DC2626"/>
                </a:solidFill>
                <a:latin typeface="Segoe UI"/>
              </a:defRPr>
            </a:pPr>
            <a:r>
              <a:t>- Synchronous Blocking Notifications:</a:t>
            </a:r>
          </a:p>
          <a:p>
            <a:pPr algn="l">
              <a:spcAft>
                <a:spcPts val="600"/>
              </a:spcAft>
              <a:defRPr sz="1000" b="0">
                <a:solidFill>
                  <a:srgbClr val="334155"/>
                </a:solidFill>
                <a:latin typeface="Segoe UI"/>
              </a:defRPr>
            </a:pPr>
            <a:r>
              <a:t>   Calls email/SMS in request loop. Client hangs for 2-3 seconds; connections exhaust.</a:t>
            </a:r>
          </a:p>
          <a:p>
            <a:pPr algn="l">
              <a:spcAft>
                <a:spcPts val="100"/>
              </a:spcAft>
              <a:defRPr sz="1150" b="1">
                <a:solidFill>
                  <a:srgbClr val="DC2626"/>
                </a:solidFill>
                <a:latin typeface="Segoe UI"/>
              </a:defRPr>
            </a:pPr>
            <a:r>
              <a:t>- Duplicate Request Vulnerability:</a:t>
            </a:r>
          </a:p>
          <a:p>
            <a:pPr algn="l">
              <a:spcAft>
                <a:spcPts val="600"/>
              </a:spcAft>
              <a:defRPr sz="1000" b="0">
                <a:solidFill>
                  <a:srgbClr val="334155"/>
                </a:solidFill>
                <a:latin typeface="Segoe UI"/>
              </a:defRPr>
            </a:pPr>
            <a:r>
              <a:t>   Retries create duplicate bookings and double charges on client reconnects.</a:t>
            </a:r>
          </a:p>
          <a:p>
            <a:pPr algn="l">
              <a:spcAft>
                <a:spcPts val="100"/>
              </a:spcAft>
              <a:defRPr sz="1150" b="1">
                <a:solidFill>
                  <a:srgbClr val="DC2626"/>
                </a:solidFill>
                <a:latin typeface="Segoe UI"/>
              </a:defRPr>
            </a:pPr>
            <a:r>
              <a:t>- Limited Failure Handling:</a:t>
            </a:r>
          </a:p>
          <a:p>
            <a:pPr algn="l">
              <a:spcAft>
                <a:spcPts val="600"/>
              </a:spcAft>
              <a:defRPr sz="1000" b="0">
                <a:solidFill>
                  <a:srgbClr val="334155"/>
                </a:solidFill>
                <a:latin typeface="Segoe UI"/>
              </a:defRPr>
            </a:pPr>
            <a:r>
              <a:t>   Worker or process crash permanently drops pending jobs with zero recovery.</a:t>
            </a:r>
          </a:p>
          <a:p>
            <a:pPr algn="l">
              <a:spcAft>
                <a:spcPts val="100"/>
              </a:spcAft>
              <a:defRPr sz="1150" b="1">
                <a:solidFill>
                  <a:srgbClr val="DC2626"/>
                </a:solidFill>
                <a:latin typeface="Segoe UI"/>
              </a:defRPr>
            </a:pPr>
            <a:r>
              <a:t>- Zero Operational Visibility:</a:t>
            </a:r>
          </a:p>
          <a:p>
            <a:pPr algn="l">
              <a:spcAft>
                <a:spcPts val="600"/>
              </a:spcAft>
              <a:defRPr sz="1000" b="0">
                <a:solidFill>
                  <a:srgbClr val="334155"/>
                </a:solidFill>
                <a:latin typeface="Segoe UI"/>
              </a:defRPr>
            </a:pPr>
            <a:r>
              <a:t>   Raw terminal console logs; blind during live production outages.</a:t>
            </a:r>
          </a:p>
        </p:txBody>
      </p:sp>
      <p:sp>
        <p:nvSpPr>
          <p:cNvPr id="8" name="Rounded Rectangle 7"/>
          <p:cNvSpPr/>
          <p:nvPr/>
        </p:nvSpPr>
        <p:spPr>
          <a:xfrm>
            <a:off x="6291072" y="1280160"/>
            <a:ext cx="5166360" cy="484632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417320"/>
            <a:ext cx="4709160" cy="4572000"/>
          </a:xfrm>
          <a:prstGeom prst="rect">
            <a:avLst/>
          </a:prstGeom>
          <a:noFill/>
        </p:spPr>
        <p:txBody>
          <a:bodyPr wrap="square">
            <a:spAutoFit/>
          </a:bodyPr>
          <a:lstStyle/>
          <a:p>
            <a:pPr algn="l">
              <a:spcAft>
                <a:spcPts val="1000"/>
              </a:spcAft>
              <a:defRPr sz="1600" b="1">
                <a:solidFill>
                  <a:srgbClr val="16A34A"/>
                </a:solidFill>
                <a:latin typeface="Segoe UI"/>
              </a:defRPr>
            </a:pPr>
            <a:r>
              <a:t>SURGESHIELD PLATFORM ✓</a:t>
            </a:r>
          </a:p>
          <a:p>
            <a:pPr algn="l">
              <a:spcAft>
                <a:spcPts val="100"/>
              </a:spcAft>
              <a:defRPr sz="1150" b="1">
                <a:solidFill>
                  <a:srgbClr val="16A34A"/>
                </a:solidFill>
                <a:latin typeface="Segoe UI"/>
              </a:defRPr>
            </a:pPr>
            <a:r>
              <a:t>✓ Multi-Node L7 Load Balancing:</a:t>
            </a:r>
          </a:p>
          <a:p>
            <a:pPr algn="l">
              <a:spcAft>
                <a:spcPts val="600"/>
              </a:spcAft>
              <a:defRPr sz="1000" b="0">
                <a:solidFill>
                  <a:srgbClr val="334155"/>
                </a:solidFill>
                <a:latin typeface="Segoe UI"/>
              </a:defRPr>
            </a:pPr>
            <a:r>
              <a:t>   Nginx round-robin balances traffic across 3 stateless API nodes with instant failover.</a:t>
            </a:r>
          </a:p>
          <a:p>
            <a:pPr algn="l">
              <a:spcAft>
                <a:spcPts val="100"/>
              </a:spcAft>
              <a:defRPr sz="1150" b="1">
                <a:solidFill>
                  <a:srgbClr val="16A34A"/>
                </a:solidFill>
                <a:latin typeface="Segoe UI"/>
              </a:defRPr>
            </a:pPr>
            <a:r>
              <a:t>✓ PostgreSQL Row-Level Locking:</a:t>
            </a:r>
          </a:p>
          <a:p>
            <a:pPr algn="l">
              <a:spcAft>
                <a:spcPts val="600"/>
              </a:spcAft>
              <a:defRPr sz="1000" b="0">
                <a:solidFill>
                  <a:srgbClr val="334155"/>
                </a:solidFill>
                <a:latin typeface="Segoe UI"/>
              </a:defRPr>
            </a:pPr>
            <a:r>
              <a:t>   `SELECT ... FOR UPDATE` strictly serializes seat decrements. 100% ZERO OVERBOOKING.</a:t>
            </a:r>
          </a:p>
          <a:p>
            <a:pPr algn="l">
              <a:spcAft>
                <a:spcPts val="100"/>
              </a:spcAft>
              <a:defRPr sz="1150" b="1">
                <a:solidFill>
                  <a:srgbClr val="16A34A"/>
                </a:solidFill>
                <a:latin typeface="Segoe UI"/>
              </a:defRPr>
            </a:pPr>
            <a:r>
              <a:t>✓ Decoupled BullMQ Async Pipeline:</a:t>
            </a:r>
          </a:p>
          <a:p>
            <a:pPr algn="l">
              <a:spcAft>
                <a:spcPts val="600"/>
              </a:spcAft>
              <a:defRPr sz="1000" b="0">
                <a:solidFill>
                  <a:srgbClr val="334155"/>
                </a:solidFill>
                <a:latin typeface="Segoe UI"/>
              </a:defRPr>
            </a:pPr>
            <a:r>
              <a:t>   Fast DB commit + outbox pattern. API responds in &lt;15ms; workers process in background.</a:t>
            </a:r>
          </a:p>
          <a:p>
            <a:pPr algn="l">
              <a:spcAft>
                <a:spcPts val="100"/>
              </a:spcAft>
              <a:defRPr sz="1150" b="1">
                <a:solidFill>
                  <a:srgbClr val="16A34A"/>
                </a:solidFill>
                <a:latin typeface="Segoe UI"/>
              </a:defRPr>
            </a:pPr>
            <a:r>
              <a:t>✓ Idempotency-Key Protection:</a:t>
            </a:r>
          </a:p>
          <a:p>
            <a:pPr algn="l">
              <a:spcAft>
                <a:spcPts val="600"/>
              </a:spcAft>
              <a:defRPr sz="1000" b="0">
                <a:solidFill>
                  <a:srgbClr val="334155"/>
                </a:solidFill>
                <a:latin typeface="Segoe UI"/>
              </a:defRPr>
            </a:pPr>
            <a:r>
              <a:t>   Unique UUID checks replay cached response safely without extra seat deductions.</a:t>
            </a:r>
          </a:p>
          <a:p>
            <a:pPr algn="l">
              <a:spcAft>
                <a:spcPts val="100"/>
              </a:spcAft>
              <a:defRPr sz="1150" b="1">
                <a:solidFill>
                  <a:srgbClr val="16A34A"/>
                </a:solidFill>
                <a:latin typeface="Segoe UI"/>
              </a:defRPr>
            </a:pPr>
            <a:r>
              <a:t>✓ Persistent Queue Recovery:</a:t>
            </a:r>
          </a:p>
          <a:p>
            <a:pPr algn="l">
              <a:spcAft>
                <a:spcPts val="600"/>
              </a:spcAft>
              <a:defRPr sz="1000" b="0">
                <a:solidFill>
                  <a:srgbClr val="334155"/>
                </a:solidFill>
                <a:latin typeface="Segoe UI"/>
              </a:defRPr>
            </a:pPr>
            <a:r>
              <a:t>   Redis AOF buffers backlog; workers catch up automatically upon restart.</a:t>
            </a:r>
          </a:p>
          <a:p>
            <a:pPr algn="l">
              <a:spcAft>
                <a:spcPts val="100"/>
              </a:spcAft>
              <a:defRPr sz="1150" b="1">
                <a:solidFill>
                  <a:srgbClr val="16A34A"/>
                </a:solidFill>
                <a:latin typeface="Segoe UI"/>
              </a:defRPr>
            </a:pPr>
            <a:r>
              <a:t>✓ Full Operational Telemetry:</a:t>
            </a:r>
          </a:p>
          <a:p>
            <a:pPr algn="l">
              <a:spcAft>
                <a:spcPts val="600"/>
              </a:spcAft>
              <a:defRPr sz="1000" b="0">
                <a:solidFill>
                  <a:srgbClr val="334155"/>
                </a:solidFill>
                <a:latin typeface="Segoe UI"/>
              </a:defRPr>
            </a:pPr>
            <a:r>
              <a:t>   Prometheus metrics (`/metrics`), live health probes, and real-time Admin UI.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000" b="1">
                <a:solidFill>
                  <a:srgbClr val="635BFF"/>
                </a:solidFill>
                <a:latin typeface="Segoe UI"/>
              </a:defRPr>
            </a:pPr>
            <a:r>
              <a:t>MENTOR EVALUATION &amp; DEMONSTRATION SCRIPT</a:t>
            </a:r>
          </a:p>
        </p:txBody>
      </p:sp>
      <p:sp>
        <p:nvSpPr>
          <p:cNvPr id="4" name="TextBox 3"/>
          <p:cNvSpPr txBox="1"/>
          <p:nvPr/>
        </p:nvSpPr>
        <p:spPr>
          <a:xfrm>
            <a:off x="731520" y="658368"/>
            <a:ext cx="9601200" cy="594360"/>
          </a:xfrm>
          <a:prstGeom prst="rect">
            <a:avLst/>
          </a:prstGeom>
          <a:noFill/>
        </p:spPr>
        <p:txBody>
          <a:bodyPr wrap="square" lIns="0" rIns="0" tIns="0" bIns="0">
            <a:spAutoFit/>
          </a:bodyPr>
          <a:lstStyle/>
          <a:p>
            <a:pPr>
              <a:defRPr sz="2100" b="1">
                <a:solidFill>
                  <a:srgbClr val="0F172A"/>
                </a:solidFill>
                <a:latin typeface="Segoe UI"/>
              </a:defRPr>
            </a:pPr>
            <a:r>
              <a:t>Demonstration Playbook: 17-Step Mentor Live Demo</a:t>
            </a:r>
          </a:p>
        </p:txBody>
      </p:sp>
      <p:sp>
        <p:nvSpPr>
          <p:cNvPr id="5" name="TextBox 4"/>
          <p:cNvSpPr txBox="1"/>
          <p:nvPr/>
        </p:nvSpPr>
        <p:spPr>
          <a:xfrm>
            <a:off x="10515600" y="502920"/>
            <a:ext cx="914400" cy="365760"/>
          </a:xfrm>
          <a:prstGeom prst="rect">
            <a:avLst/>
          </a:prstGeom>
          <a:noFill/>
        </p:spPr>
        <p:txBody>
          <a:bodyPr wrap="square" lIns="0" rIns="0" tIns="0" bIns="0">
            <a:spAutoFit/>
          </a:bodyPr>
          <a:lstStyle/>
          <a:p>
            <a:pPr algn="r">
              <a:defRPr sz="1200" b="1">
                <a:solidFill>
                  <a:srgbClr val="64748B"/>
                </a:solidFill>
                <a:latin typeface="Segoe UI"/>
              </a:defRPr>
            </a:pPr>
            <a:r>
              <a:t>18 / 20</a:t>
            </a:r>
          </a:p>
        </p:txBody>
      </p:sp>
      <p:sp>
        <p:nvSpPr>
          <p:cNvPr id="6" name="Rounded Rectangle 5"/>
          <p:cNvSpPr/>
          <p:nvPr/>
        </p:nvSpPr>
        <p:spPr>
          <a:xfrm>
            <a:off x="731520" y="1371600"/>
            <a:ext cx="2514600" cy="46634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41248" y="1508760"/>
            <a:ext cx="2295144" cy="3657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000" b="1">
                <a:solidFill>
                  <a:srgbClr val="FFFFFF"/>
                </a:solidFill>
                <a:latin typeface="Segoe UI"/>
              </a:defRPr>
            </a:pPr>
            <a:r>
              <a:t>Phase 1: Baseline Architecture</a:t>
            </a:r>
          </a:p>
        </p:txBody>
      </p:sp>
      <p:sp>
        <p:nvSpPr>
          <p:cNvPr id="8" name="TextBox 7"/>
          <p:cNvSpPr txBox="1"/>
          <p:nvPr/>
        </p:nvSpPr>
        <p:spPr>
          <a:xfrm>
            <a:off x="868680" y="1965960"/>
            <a:ext cx="2240280" cy="3977640"/>
          </a:xfrm>
          <a:prstGeom prst="rect">
            <a:avLst/>
          </a:prstGeom>
          <a:noFill/>
        </p:spPr>
        <p:txBody>
          <a:bodyPr wrap="square">
            <a:spAutoFit/>
          </a:bodyPr>
          <a:lstStyle/>
          <a:p>
            <a:pPr algn="l">
              <a:spcAft>
                <a:spcPts val="800"/>
              </a:spcAft>
              <a:defRPr sz="1000" b="1">
                <a:solidFill>
                  <a:srgbClr val="64748B"/>
                </a:solidFill>
                <a:latin typeface="Segoe UI"/>
              </a:defRPr>
            </a:pPr>
            <a:r>
              <a:t>Load Balancing &amp; Health</a:t>
            </a:r>
          </a:p>
          <a:p>
            <a:pPr algn="l">
              <a:spcAft>
                <a:spcPts val="600"/>
              </a:spcAft>
              <a:defRPr sz="950" b="0">
                <a:solidFill>
                  <a:srgbClr val="334155"/>
                </a:solidFill>
                <a:latin typeface="Segoe UI"/>
              </a:defRPr>
            </a:pPr>
            <a:r>
              <a:t>1. Run `docker compose ps` -&gt; 6 healthy containers.</a:t>
            </a:r>
          </a:p>
          <a:p>
            <a:pPr algn="l">
              <a:spcAft>
                <a:spcPts val="600"/>
              </a:spcAft>
              <a:defRPr sz="950" b="0">
                <a:solidFill>
                  <a:srgbClr val="334155"/>
                </a:solidFill>
                <a:latin typeface="Segoe UI"/>
              </a:defRPr>
            </a:pPr>
            <a:r>
              <a:t>2. Open `http://localhost:8080` -&gt; Log in as Attendee.</a:t>
            </a:r>
          </a:p>
          <a:p>
            <a:pPr algn="l">
              <a:spcAft>
                <a:spcPts val="600"/>
              </a:spcAft>
              <a:defRPr sz="950" b="0">
                <a:solidFill>
                  <a:srgbClr val="334155"/>
                </a:solidFill>
                <a:latin typeface="Segoe UI"/>
              </a:defRPr>
            </a:pPr>
            <a:r>
              <a:t>3. Inspect Network tab -&gt; `X-Served-By` rotates.</a:t>
            </a:r>
          </a:p>
          <a:p>
            <a:pPr algn="l">
              <a:spcAft>
                <a:spcPts val="600"/>
              </a:spcAft>
              <a:defRPr sz="950" b="0">
                <a:solidFill>
                  <a:srgbClr val="334155"/>
                </a:solidFill>
                <a:latin typeface="Segoe UI"/>
              </a:defRPr>
            </a:pPr>
            <a:r>
              <a:t>4. Check catalog cache -&gt; Show `cache: HIT`.</a:t>
            </a:r>
          </a:p>
          <a:p>
            <a:pPr algn="l">
              <a:spcAft>
                <a:spcPts val="600"/>
              </a:spcAft>
              <a:defRPr sz="950" b="0">
                <a:solidFill>
                  <a:srgbClr val="334155"/>
                </a:solidFill>
                <a:latin typeface="Segoe UI"/>
              </a:defRPr>
            </a:pPr>
            <a:r>
              <a:t>5. Open Admin UI -&gt; Show service health badges.</a:t>
            </a:r>
          </a:p>
        </p:txBody>
      </p:sp>
      <p:sp>
        <p:nvSpPr>
          <p:cNvPr id="9" name="Rounded Rectangle 8"/>
          <p:cNvSpPr/>
          <p:nvPr/>
        </p:nvSpPr>
        <p:spPr>
          <a:xfrm>
            <a:off x="3465576" y="1371600"/>
            <a:ext cx="2514600" cy="466344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75304" y="1508760"/>
            <a:ext cx="2295144" cy="36576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000" b="1">
                <a:solidFill>
                  <a:srgbClr val="FFFFFF"/>
                </a:solidFill>
                <a:latin typeface="Segoe UI"/>
              </a:defRPr>
            </a:pPr>
            <a:r>
              <a:t>Phase 2: Concurrency &amp; Idempotency</a:t>
            </a:r>
          </a:p>
        </p:txBody>
      </p:sp>
      <p:sp>
        <p:nvSpPr>
          <p:cNvPr id="11" name="TextBox 10"/>
          <p:cNvSpPr txBox="1"/>
          <p:nvPr/>
        </p:nvSpPr>
        <p:spPr>
          <a:xfrm>
            <a:off x="3602736" y="1965960"/>
            <a:ext cx="2240280" cy="3977640"/>
          </a:xfrm>
          <a:prstGeom prst="rect">
            <a:avLst/>
          </a:prstGeom>
          <a:noFill/>
        </p:spPr>
        <p:txBody>
          <a:bodyPr wrap="square">
            <a:spAutoFit/>
          </a:bodyPr>
          <a:lstStyle/>
          <a:p>
            <a:pPr algn="l">
              <a:spcAft>
                <a:spcPts val="800"/>
              </a:spcAft>
              <a:defRPr sz="1000" b="1">
                <a:solidFill>
                  <a:srgbClr val="64748B"/>
                </a:solidFill>
                <a:latin typeface="Segoe UI"/>
              </a:defRPr>
            </a:pPr>
            <a:r>
              <a:t>Stress Testing &amp; Guarantees</a:t>
            </a:r>
          </a:p>
          <a:p>
            <a:pPr algn="l">
              <a:spcAft>
                <a:spcPts val="600"/>
              </a:spcAft>
              <a:defRPr sz="950" b="0">
                <a:solidFill>
                  <a:srgbClr val="334155"/>
                </a:solidFill>
                <a:latin typeface="Segoe UI"/>
              </a:defRPr>
            </a:pPr>
            <a:r>
              <a:t>6. Reset 'Concurrency Test' event to 5 seats.</a:t>
            </a:r>
          </a:p>
          <a:p>
            <a:pPr algn="l">
              <a:spcAft>
                <a:spcPts val="600"/>
              </a:spcAft>
              <a:defRPr sz="950" b="0">
                <a:solidFill>
                  <a:srgbClr val="334155"/>
                </a:solidFill>
                <a:latin typeface="Segoe UI"/>
              </a:defRPr>
            </a:pPr>
            <a:r>
              <a:t>7. Trigger Live Stress Test: Fire 25 requests.</a:t>
            </a:r>
          </a:p>
          <a:p>
            <a:pPr algn="l">
              <a:spcAft>
                <a:spcPts val="600"/>
              </a:spcAft>
              <a:defRPr sz="950" b="0">
                <a:solidFill>
                  <a:srgbClr val="334155"/>
                </a:solidFill>
                <a:latin typeface="Segoe UI"/>
              </a:defRPr>
            </a:pPr>
            <a:r>
              <a:t>8. Verify: Exactly 5 confirmed, 20 rejected (409).</a:t>
            </a:r>
          </a:p>
          <a:p>
            <a:pPr algn="l">
              <a:spcAft>
                <a:spcPts val="600"/>
              </a:spcAft>
              <a:defRPr sz="950" b="0">
                <a:solidFill>
                  <a:srgbClr val="334155"/>
                </a:solidFill>
                <a:latin typeface="Segoe UI"/>
              </a:defRPr>
            </a:pPr>
            <a:r>
              <a:t>9. Verify remaining seats: Exactly 0 (No Overbooking!).</a:t>
            </a:r>
          </a:p>
          <a:p>
            <a:pPr algn="l">
              <a:spcAft>
                <a:spcPts val="600"/>
              </a:spcAft>
              <a:defRPr sz="950" b="0">
                <a:solidFill>
                  <a:srgbClr val="334155"/>
                </a:solidFill>
                <a:latin typeface="Segoe UI"/>
              </a:defRPr>
            </a:pPr>
            <a:r>
              <a:t>10. Resubmit identical request -&gt; Show `replayed: true`.</a:t>
            </a:r>
          </a:p>
        </p:txBody>
      </p:sp>
      <p:sp>
        <p:nvSpPr>
          <p:cNvPr id="12" name="Rounded Rectangle 11"/>
          <p:cNvSpPr/>
          <p:nvPr/>
        </p:nvSpPr>
        <p:spPr>
          <a:xfrm>
            <a:off x="6199632" y="1371600"/>
            <a:ext cx="2514600" cy="466344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09360" y="1508760"/>
            <a:ext cx="2295144" cy="36576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000" b="1">
                <a:solidFill>
                  <a:srgbClr val="FFFFFF"/>
                </a:solidFill>
                <a:latin typeface="Segoe UI"/>
              </a:defRPr>
            </a:pPr>
            <a:r>
              <a:t>Phase 3: Failure &amp; Self-Healing</a:t>
            </a:r>
          </a:p>
        </p:txBody>
      </p:sp>
      <p:sp>
        <p:nvSpPr>
          <p:cNvPr id="14" name="TextBox 13"/>
          <p:cNvSpPr txBox="1"/>
          <p:nvPr/>
        </p:nvSpPr>
        <p:spPr>
          <a:xfrm>
            <a:off x="6336792" y="1965960"/>
            <a:ext cx="2240280" cy="3977640"/>
          </a:xfrm>
          <a:prstGeom prst="rect">
            <a:avLst/>
          </a:prstGeom>
          <a:noFill/>
        </p:spPr>
        <p:txBody>
          <a:bodyPr wrap="square">
            <a:spAutoFit/>
          </a:bodyPr>
          <a:lstStyle/>
          <a:p>
            <a:pPr algn="l">
              <a:spcAft>
                <a:spcPts val="800"/>
              </a:spcAft>
              <a:defRPr sz="1000" b="1">
                <a:solidFill>
                  <a:srgbClr val="64748B"/>
                </a:solidFill>
                <a:latin typeface="Segoe UI"/>
              </a:defRPr>
            </a:pPr>
            <a:r>
              <a:t>Fault Tolerance &amp; Rate Limit</a:t>
            </a:r>
          </a:p>
          <a:p>
            <a:pPr algn="l">
              <a:spcAft>
                <a:spcPts val="600"/>
              </a:spcAft>
              <a:defRPr sz="950" b="0">
                <a:solidFill>
                  <a:srgbClr val="334155"/>
                </a:solidFill>
                <a:latin typeface="Segoe UI"/>
              </a:defRPr>
            </a:pPr>
            <a:r>
              <a:t>11. Run `docker compose stop worker`.</a:t>
            </a:r>
          </a:p>
          <a:p>
            <a:pPr algn="l">
              <a:spcAft>
                <a:spcPts val="600"/>
              </a:spcAft>
              <a:defRPr sz="950" b="0">
                <a:solidFill>
                  <a:srgbClr val="334155"/>
                </a:solidFill>
                <a:latin typeface="Segoe UI"/>
              </a:defRPr>
            </a:pPr>
            <a:r>
              <a:t>12. Place booking -&gt; Confirms in DB (&lt;15ms).</a:t>
            </a:r>
          </a:p>
          <a:p>
            <a:pPr algn="l">
              <a:spcAft>
                <a:spcPts val="600"/>
              </a:spcAft>
              <a:defRPr sz="950" b="0">
                <a:solidFill>
                  <a:srgbClr val="334155"/>
                </a:solidFill>
                <a:latin typeface="Segoe UI"/>
              </a:defRPr>
            </a:pPr>
            <a:r>
              <a:t>13. Show worker badge turns 'Offline' in `/health`.</a:t>
            </a:r>
          </a:p>
          <a:p>
            <a:pPr algn="l">
              <a:spcAft>
                <a:spcPts val="600"/>
              </a:spcAft>
              <a:defRPr sz="950" b="0">
                <a:solidFill>
                  <a:srgbClr val="334155"/>
                </a:solidFill>
                <a:latin typeface="Segoe UI"/>
              </a:defRPr>
            </a:pPr>
            <a:r>
              <a:t>14. Run `docker compose start worker` -&gt; Auto-recovers.</a:t>
            </a:r>
          </a:p>
          <a:p>
            <a:pPr algn="l">
              <a:spcAft>
                <a:spcPts val="600"/>
              </a:spcAft>
              <a:defRPr sz="950" b="0">
                <a:solidFill>
                  <a:srgbClr val="334155"/>
                </a:solidFill>
                <a:latin typeface="Segoe UI"/>
              </a:defRPr>
            </a:pPr>
            <a:r>
              <a:t>15. Test `/api/demo/rate-limit-test` -&gt; HTTP 429.</a:t>
            </a:r>
          </a:p>
        </p:txBody>
      </p:sp>
      <p:sp>
        <p:nvSpPr>
          <p:cNvPr id="15" name="Rounded Rectangle 14"/>
          <p:cNvSpPr/>
          <p:nvPr/>
        </p:nvSpPr>
        <p:spPr>
          <a:xfrm>
            <a:off x="8933688" y="1371600"/>
            <a:ext cx="2514600" cy="4663440"/>
          </a:xfrm>
          <a:prstGeom prst="roundRect">
            <a:avLst/>
          </a:prstGeom>
          <a:solidFill>
            <a:srgbClr val="F5F3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43416" y="1508760"/>
            <a:ext cx="2295144" cy="365760"/>
          </a:xfrm>
          <a:prstGeom prst="round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000" b="1">
                <a:solidFill>
                  <a:srgbClr val="FFFFFF"/>
                </a:solidFill>
                <a:latin typeface="Segoe UI"/>
              </a:defRPr>
            </a:pPr>
            <a:r>
              <a:t>Phase 4: Scaling &amp; Reset</a:t>
            </a:r>
          </a:p>
        </p:txBody>
      </p:sp>
      <p:sp>
        <p:nvSpPr>
          <p:cNvPr id="17" name="TextBox 16"/>
          <p:cNvSpPr txBox="1"/>
          <p:nvPr/>
        </p:nvSpPr>
        <p:spPr>
          <a:xfrm>
            <a:off x="9070848" y="1965960"/>
            <a:ext cx="2240280" cy="3977640"/>
          </a:xfrm>
          <a:prstGeom prst="rect">
            <a:avLst/>
          </a:prstGeom>
          <a:noFill/>
        </p:spPr>
        <p:txBody>
          <a:bodyPr wrap="square">
            <a:spAutoFit/>
          </a:bodyPr>
          <a:lstStyle/>
          <a:p>
            <a:pPr algn="l">
              <a:spcAft>
                <a:spcPts val="800"/>
              </a:spcAft>
              <a:defRPr sz="1000" b="1">
                <a:solidFill>
                  <a:srgbClr val="64748B"/>
                </a:solidFill>
                <a:latin typeface="Segoe UI"/>
              </a:defRPr>
            </a:pPr>
            <a:r>
              <a:t>Elasticity &amp; Reproducibility</a:t>
            </a:r>
          </a:p>
          <a:p>
            <a:pPr algn="l">
              <a:spcAft>
                <a:spcPts val="600"/>
              </a:spcAft>
              <a:defRPr sz="950" b="0">
                <a:solidFill>
                  <a:srgbClr val="334155"/>
                </a:solidFill>
                <a:latin typeface="Segoe UI"/>
              </a:defRPr>
            </a:pPr>
            <a:r>
              <a:t>16. Click 'Simulate 50-Job Surge' -&gt; Watch virtual worker pool scale from 2 to 10 workers.</a:t>
            </a:r>
          </a:p>
          <a:p>
            <a:pPr algn="l">
              <a:spcAft>
                <a:spcPts val="600"/>
              </a:spcAft>
              <a:defRPr sz="950" b="0">
                <a:solidFill>
                  <a:srgbClr val="334155"/>
                </a:solidFill>
                <a:latin typeface="Segoe UI"/>
              </a:defRPr>
            </a:pPr>
            <a:r>
              <a:t>17. Click '1-Click Full System Reset' -&gt; Restore all event seats and clear test records instantly.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000" b="1">
                <a:solidFill>
                  <a:srgbClr val="635BFF"/>
                </a:solidFill>
                <a:latin typeface="Segoe UI"/>
              </a:defRPr>
            </a:pPr>
            <a:r>
              <a:t>ENTERPRISE PRODUCTION ARCHITECTURE</a:t>
            </a:r>
          </a:p>
        </p:txBody>
      </p:sp>
      <p:sp>
        <p:nvSpPr>
          <p:cNvPr id="4" name="TextBox 3"/>
          <p:cNvSpPr txBox="1"/>
          <p:nvPr/>
        </p:nvSpPr>
        <p:spPr>
          <a:xfrm>
            <a:off x="731520" y="658368"/>
            <a:ext cx="9601200" cy="594360"/>
          </a:xfrm>
          <a:prstGeom prst="rect">
            <a:avLst/>
          </a:prstGeom>
          <a:noFill/>
        </p:spPr>
        <p:txBody>
          <a:bodyPr wrap="square" lIns="0" rIns="0" tIns="0" bIns="0">
            <a:spAutoFit/>
          </a:bodyPr>
          <a:lstStyle/>
          <a:p>
            <a:pPr>
              <a:defRPr sz="2100" b="1">
                <a:solidFill>
                  <a:srgbClr val="0F172A"/>
                </a:solidFill>
                <a:latin typeface="Segoe UI"/>
              </a:defRPr>
            </a:pPr>
            <a:r>
              <a:t>Production Cloud Blueprint: From Prototype to Enterprise</a:t>
            </a:r>
          </a:p>
        </p:txBody>
      </p:sp>
      <p:sp>
        <p:nvSpPr>
          <p:cNvPr id="5" name="TextBox 4"/>
          <p:cNvSpPr txBox="1"/>
          <p:nvPr/>
        </p:nvSpPr>
        <p:spPr>
          <a:xfrm>
            <a:off x="10515600" y="502920"/>
            <a:ext cx="914400" cy="365760"/>
          </a:xfrm>
          <a:prstGeom prst="rect">
            <a:avLst/>
          </a:prstGeom>
          <a:noFill/>
        </p:spPr>
        <p:txBody>
          <a:bodyPr wrap="square" lIns="0" rIns="0" tIns="0" bIns="0">
            <a:spAutoFit/>
          </a:bodyPr>
          <a:lstStyle/>
          <a:p>
            <a:pPr algn="r">
              <a:defRPr sz="1200" b="1">
                <a:solidFill>
                  <a:srgbClr val="64748B"/>
                </a:solidFill>
                <a:latin typeface="Segoe UI"/>
              </a:defRPr>
            </a:pPr>
            <a:r>
              <a:t>19 / 20</a:t>
            </a:r>
          </a:p>
        </p:txBody>
      </p:sp>
      <p:sp>
        <p:nvSpPr>
          <p:cNvPr id="6" name="Rounded Rectangle 5"/>
          <p:cNvSpPr/>
          <p:nvPr/>
        </p:nvSpPr>
        <p:spPr>
          <a:xfrm>
            <a:off x="731520" y="1371600"/>
            <a:ext cx="2514600" cy="46634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41248" y="1508760"/>
            <a:ext cx="2295144" cy="3657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000" b="1">
                <a:solidFill>
                  <a:srgbClr val="FFFFFF"/>
                </a:solidFill>
                <a:latin typeface="Segoe UI"/>
              </a:defRPr>
            </a:pPr>
            <a:r>
              <a:t>1. Kubernetes Cluster (EKS/GKE)</a:t>
            </a:r>
          </a:p>
        </p:txBody>
      </p:sp>
      <p:sp>
        <p:nvSpPr>
          <p:cNvPr id="8" name="TextBox 7"/>
          <p:cNvSpPr txBox="1"/>
          <p:nvPr/>
        </p:nvSpPr>
        <p:spPr>
          <a:xfrm>
            <a:off x="868680" y="1965960"/>
            <a:ext cx="2240280" cy="3977640"/>
          </a:xfrm>
          <a:prstGeom prst="rect">
            <a:avLst/>
          </a:prstGeom>
          <a:noFill/>
        </p:spPr>
        <p:txBody>
          <a:bodyPr wrap="square">
            <a:spAutoFit/>
          </a:bodyPr>
          <a:lstStyle/>
          <a:p>
            <a:pPr algn="l">
              <a:spcAft>
                <a:spcPts val="800"/>
              </a:spcAft>
              <a:defRPr sz="1000" b="1">
                <a:solidFill>
                  <a:srgbClr val="64748B"/>
                </a:solidFill>
                <a:latin typeface="Segoe UI"/>
              </a:defRPr>
            </a:pPr>
            <a:r>
              <a:t>Stateless API Autoscaling</a:t>
            </a:r>
          </a:p>
          <a:p>
            <a:pPr algn="l">
              <a:spcAft>
                <a:spcPts val="600"/>
              </a:spcAft>
              <a:defRPr sz="950" b="0">
                <a:solidFill>
                  <a:srgbClr val="334155"/>
                </a:solidFill>
                <a:latin typeface="Segoe UI"/>
              </a:defRPr>
            </a:pPr>
            <a:r>
              <a:t>• Deploy stateless API image to Kubernetes Deployment.</a:t>
            </a:r>
          </a:p>
          <a:p>
            <a:pPr algn="l">
              <a:spcAft>
                <a:spcPts val="600"/>
              </a:spcAft>
              <a:defRPr sz="950" b="0">
                <a:solidFill>
                  <a:srgbClr val="334155"/>
                </a:solidFill>
                <a:latin typeface="Segoe UI"/>
              </a:defRPr>
            </a:pPr>
            <a:r>
              <a:t>• HorizontalPodAutoscaler (HPA v2) scales API pods from 3 to 20 based on 60% CPU utilization.</a:t>
            </a:r>
          </a:p>
          <a:p>
            <a:pPr algn="l">
              <a:spcAft>
                <a:spcPts val="600"/>
              </a:spcAft>
              <a:defRPr sz="950" b="0">
                <a:solidFill>
                  <a:srgbClr val="334155"/>
                </a:solidFill>
                <a:latin typeface="Segoe UI"/>
              </a:defRPr>
            </a:pPr>
            <a:r>
              <a:t>• KEDA (Kubernetes Event-driven Autoscaling) scales worker pods from 1 to 50 based on Redis BullMQ queue length.</a:t>
            </a:r>
          </a:p>
          <a:p>
            <a:pPr algn="l">
              <a:spcAft>
                <a:spcPts val="600"/>
              </a:spcAft>
              <a:defRPr sz="950" b="0">
                <a:solidFill>
                  <a:srgbClr val="334155"/>
                </a:solidFill>
                <a:latin typeface="Segoe UI"/>
              </a:defRPr>
            </a:pPr>
            <a:r>
              <a:t>• PodDisruptionBudget guarantees high availability during node maintenance.</a:t>
            </a:r>
          </a:p>
        </p:txBody>
      </p:sp>
      <p:sp>
        <p:nvSpPr>
          <p:cNvPr id="9" name="Rounded Rectangle 8"/>
          <p:cNvSpPr/>
          <p:nvPr/>
        </p:nvSpPr>
        <p:spPr>
          <a:xfrm>
            <a:off x="3465576" y="1371600"/>
            <a:ext cx="2514600" cy="466344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75304" y="1508760"/>
            <a:ext cx="2295144" cy="36576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000" b="1">
                <a:solidFill>
                  <a:srgbClr val="FFFFFF"/>
                </a:solidFill>
                <a:latin typeface="Segoe UI"/>
              </a:defRPr>
            </a:pPr>
            <a:r>
              <a:t>2. Managed Multi-AZ Database</a:t>
            </a:r>
          </a:p>
        </p:txBody>
      </p:sp>
      <p:sp>
        <p:nvSpPr>
          <p:cNvPr id="11" name="TextBox 10"/>
          <p:cNvSpPr txBox="1"/>
          <p:nvPr/>
        </p:nvSpPr>
        <p:spPr>
          <a:xfrm>
            <a:off x="3602736" y="1965960"/>
            <a:ext cx="2240280" cy="3977640"/>
          </a:xfrm>
          <a:prstGeom prst="rect">
            <a:avLst/>
          </a:prstGeom>
          <a:noFill/>
        </p:spPr>
        <p:txBody>
          <a:bodyPr wrap="square">
            <a:spAutoFit/>
          </a:bodyPr>
          <a:lstStyle/>
          <a:p>
            <a:pPr algn="l">
              <a:spcAft>
                <a:spcPts val="800"/>
              </a:spcAft>
              <a:defRPr sz="1000" b="1">
                <a:solidFill>
                  <a:srgbClr val="64748B"/>
                </a:solidFill>
                <a:latin typeface="Segoe UI"/>
              </a:defRPr>
            </a:pPr>
            <a:r>
              <a:t>AWS Aurora PostgreSQL</a:t>
            </a:r>
          </a:p>
          <a:p>
            <a:pPr algn="l">
              <a:spcAft>
                <a:spcPts val="600"/>
              </a:spcAft>
              <a:defRPr sz="950" b="0">
                <a:solidFill>
                  <a:srgbClr val="334155"/>
                </a:solidFill>
                <a:latin typeface="Segoe UI"/>
              </a:defRPr>
            </a:pPr>
            <a:r>
              <a:t>• Multi-AZ deployment with automatic sub-minute failover.</a:t>
            </a:r>
          </a:p>
          <a:p>
            <a:pPr algn="l">
              <a:spcAft>
                <a:spcPts val="600"/>
              </a:spcAft>
              <a:defRPr sz="950" b="0">
                <a:solidFill>
                  <a:srgbClr val="334155"/>
                </a:solidFill>
                <a:latin typeface="Segoe UI"/>
              </a:defRPr>
            </a:pPr>
            <a:r>
              <a:t>• Dedicated Read Replicas serve high-frequency event catalog queries, completely offloading the primary writer.</a:t>
            </a:r>
          </a:p>
          <a:p>
            <a:pPr algn="l">
              <a:spcAft>
                <a:spcPts val="600"/>
              </a:spcAft>
              <a:defRPr sz="950" b="0">
                <a:solidFill>
                  <a:srgbClr val="334155"/>
                </a:solidFill>
                <a:latin typeface="Segoe UI"/>
              </a:defRPr>
            </a:pPr>
            <a:r>
              <a:t>• Pessimistic row locking (`SELECT FOR UPDATE`) executes exclusively on the writer instance with zero cross-region latency.</a:t>
            </a:r>
          </a:p>
        </p:txBody>
      </p:sp>
      <p:sp>
        <p:nvSpPr>
          <p:cNvPr id="12" name="Rounded Rectangle 11"/>
          <p:cNvSpPr/>
          <p:nvPr/>
        </p:nvSpPr>
        <p:spPr>
          <a:xfrm>
            <a:off x="6199632" y="1371600"/>
            <a:ext cx="2514600" cy="4663440"/>
          </a:xfrm>
          <a:prstGeom prst="roundRect">
            <a:avLst/>
          </a:prstGeom>
          <a:solidFill>
            <a:srgbClr val="F5F3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09360" y="1508760"/>
            <a:ext cx="2295144" cy="365760"/>
          </a:xfrm>
          <a:prstGeom prst="round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000" b="1">
                <a:solidFill>
                  <a:srgbClr val="FFFFFF"/>
                </a:solidFill>
                <a:latin typeface="Segoe UI"/>
              </a:defRPr>
            </a:pPr>
            <a:r>
              <a:t>3. In-Memory Distributed Cache</a:t>
            </a:r>
          </a:p>
        </p:txBody>
      </p:sp>
      <p:sp>
        <p:nvSpPr>
          <p:cNvPr id="14" name="TextBox 13"/>
          <p:cNvSpPr txBox="1"/>
          <p:nvPr/>
        </p:nvSpPr>
        <p:spPr>
          <a:xfrm>
            <a:off x="6336792" y="1965960"/>
            <a:ext cx="2240280" cy="3977640"/>
          </a:xfrm>
          <a:prstGeom prst="rect">
            <a:avLst/>
          </a:prstGeom>
          <a:noFill/>
        </p:spPr>
        <p:txBody>
          <a:bodyPr wrap="square">
            <a:spAutoFit/>
          </a:bodyPr>
          <a:lstStyle/>
          <a:p>
            <a:pPr algn="l">
              <a:spcAft>
                <a:spcPts val="800"/>
              </a:spcAft>
              <a:defRPr sz="1000" b="1">
                <a:solidFill>
                  <a:srgbClr val="64748B"/>
                </a:solidFill>
                <a:latin typeface="Segoe UI"/>
              </a:defRPr>
            </a:pPr>
            <a:r>
              <a:t>AWS ElastiCache Redis Cluster</a:t>
            </a:r>
          </a:p>
          <a:p>
            <a:pPr algn="l">
              <a:spcAft>
                <a:spcPts val="600"/>
              </a:spcAft>
              <a:defRPr sz="950" b="0">
                <a:solidFill>
                  <a:srgbClr val="334155"/>
                </a:solidFill>
                <a:latin typeface="Segoe UI"/>
              </a:defRPr>
            </a:pPr>
            <a:r>
              <a:t>• Multi-AZ replication with automatic failover and Redis Sentinel.</a:t>
            </a:r>
          </a:p>
          <a:p>
            <a:pPr algn="l">
              <a:spcAft>
                <a:spcPts val="600"/>
              </a:spcAft>
              <a:defRPr sz="950" b="0">
                <a:solidFill>
                  <a:srgbClr val="334155"/>
                </a:solidFill>
                <a:latin typeface="Segoe UI"/>
              </a:defRPr>
            </a:pPr>
            <a:r>
              <a:t>• Durable append-only file (AOF) persistence across shards.</a:t>
            </a:r>
          </a:p>
          <a:p>
            <a:pPr algn="l">
              <a:spcAft>
                <a:spcPts val="600"/>
              </a:spcAft>
              <a:defRPr sz="950" b="0">
                <a:solidFill>
                  <a:srgbClr val="334155"/>
                </a:solidFill>
                <a:latin typeface="Segoe UI"/>
              </a:defRPr>
            </a:pPr>
            <a:r>
              <a:t>• Isolates catalog caching (volatile LRU) from BullMQ queue streams (persistent).</a:t>
            </a:r>
          </a:p>
        </p:txBody>
      </p:sp>
      <p:sp>
        <p:nvSpPr>
          <p:cNvPr id="15" name="Rounded Rectangle 14"/>
          <p:cNvSpPr/>
          <p:nvPr/>
        </p:nvSpPr>
        <p:spPr>
          <a:xfrm>
            <a:off x="8933688" y="1371600"/>
            <a:ext cx="2514600" cy="466344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43416" y="1508760"/>
            <a:ext cx="2295144" cy="36576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000" b="1">
                <a:solidFill>
                  <a:srgbClr val="FFFFFF"/>
                </a:solidFill>
                <a:latin typeface="Segoe UI"/>
              </a:defRPr>
            </a:pPr>
            <a:r>
              <a:t>4. Edge Security &amp; Global CDN</a:t>
            </a:r>
          </a:p>
        </p:txBody>
      </p:sp>
      <p:sp>
        <p:nvSpPr>
          <p:cNvPr id="17" name="TextBox 16"/>
          <p:cNvSpPr txBox="1"/>
          <p:nvPr/>
        </p:nvSpPr>
        <p:spPr>
          <a:xfrm>
            <a:off x="9070848" y="1965960"/>
            <a:ext cx="2240280" cy="3977640"/>
          </a:xfrm>
          <a:prstGeom prst="rect">
            <a:avLst/>
          </a:prstGeom>
          <a:noFill/>
        </p:spPr>
        <p:txBody>
          <a:bodyPr wrap="square">
            <a:spAutoFit/>
          </a:bodyPr>
          <a:lstStyle/>
          <a:p>
            <a:pPr algn="l">
              <a:spcAft>
                <a:spcPts val="800"/>
              </a:spcAft>
              <a:defRPr sz="1000" b="1">
                <a:solidFill>
                  <a:srgbClr val="64748B"/>
                </a:solidFill>
                <a:latin typeface="Segoe UI"/>
              </a:defRPr>
            </a:pPr>
            <a:r>
              <a:t>Cloudflare / AWS WAF</a:t>
            </a:r>
          </a:p>
          <a:p>
            <a:pPr algn="l">
              <a:spcAft>
                <a:spcPts val="600"/>
              </a:spcAft>
              <a:defRPr sz="950" b="0">
                <a:solidFill>
                  <a:srgbClr val="334155"/>
                </a:solidFill>
                <a:latin typeface="Segoe UI"/>
              </a:defRPr>
            </a:pPr>
            <a:r>
              <a:t>• Global Anycast CDN caches static assets at edge locations.</a:t>
            </a:r>
          </a:p>
          <a:p>
            <a:pPr algn="l">
              <a:spcAft>
                <a:spcPts val="600"/>
              </a:spcAft>
              <a:defRPr sz="950" b="0">
                <a:solidFill>
                  <a:srgbClr val="334155"/>
                </a:solidFill>
                <a:latin typeface="Segoe UI"/>
              </a:defRPr>
            </a:pPr>
            <a:r>
              <a:t>• Edge WAF blocks volumetric DDoS attacks before hitting Kubernetes.</a:t>
            </a:r>
          </a:p>
          <a:p>
            <a:pPr algn="l">
              <a:spcAft>
                <a:spcPts val="600"/>
              </a:spcAft>
              <a:defRPr sz="950" b="0">
                <a:solidFill>
                  <a:srgbClr val="334155"/>
                </a:solidFill>
                <a:latin typeface="Segoe UI"/>
              </a:defRPr>
            </a:pPr>
            <a:r>
              <a:t>• Geo-distributed TLS termination ensures low latency worldwide.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000" b="1">
                <a:solidFill>
                  <a:srgbClr val="A5B4FC"/>
                </a:solidFill>
                <a:latin typeface="Segoe UI"/>
              </a:defRPr>
            </a:pPr>
            <a:r>
              <a:t>SUMMARY &amp; CORE TAKEAWAYS</a:t>
            </a:r>
          </a:p>
        </p:txBody>
      </p:sp>
      <p:sp>
        <p:nvSpPr>
          <p:cNvPr id="4" name="TextBox 3"/>
          <p:cNvSpPr txBox="1"/>
          <p:nvPr/>
        </p:nvSpPr>
        <p:spPr>
          <a:xfrm>
            <a:off x="731520" y="658368"/>
            <a:ext cx="9601200" cy="594360"/>
          </a:xfrm>
          <a:prstGeom prst="rect">
            <a:avLst/>
          </a:prstGeom>
          <a:noFill/>
        </p:spPr>
        <p:txBody>
          <a:bodyPr wrap="square" lIns="0" rIns="0" tIns="0" bIns="0">
            <a:spAutoFit/>
          </a:bodyPr>
          <a:lstStyle/>
          <a:p>
            <a:pPr>
              <a:defRPr sz="2100" b="1">
                <a:solidFill>
                  <a:srgbClr val="FFFFFF"/>
                </a:solidFill>
                <a:latin typeface="Segoe UI"/>
              </a:defRPr>
            </a:pPr>
            <a:r>
              <a:t>SurgeShield: Enterprise Resilience Realized</a:t>
            </a:r>
          </a:p>
        </p:txBody>
      </p:sp>
      <p:sp>
        <p:nvSpPr>
          <p:cNvPr id="5" name="TextBox 4"/>
          <p:cNvSpPr txBox="1"/>
          <p:nvPr/>
        </p:nvSpPr>
        <p:spPr>
          <a:xfrm>
            <a:off x="10515600" y="502920"/>
            <a:ext cx="914400" cy="365760"/>
          </a:xfrm>
          <a:prstGeom prst="rect">
            <a:avLst/>
          </a:prstGeom>
          <a:noFill/>
        </p:spPr>
        <p:txBody>
          <a:bodyPr wrap="square" lIns="0" rIns="0" tIns="0" bIns="0">
            <a:spAutoFit/>
          </a:bodyPr>
          <a:lstStyle/>
          <a:p>
            <a:pPr algn="r">
              <a:defRPr sz="1200" b="1">
                <a:solidFill>
                  <a:srgbClr val="94A3B8"/>
                </a:solidFill>
                <a:latin typeface="Segoe UI"/>
              </a:defRPr>
            </a:pPr>
            <a:r>
              <a:t>20 / 20</a:t>
            </a:r>
          </a:p>
        </p:txBody>
      </p:sp>
      <p:sp>
        <p:nvSpPr>
          <p:cNvPr id="6" name="Rounded Rectangle 5"/>
          <p:cNvSpPr/>
          <p:nvPr/>
        </p:nvSpPr>
        <p:spPr>
          <a:xfrm>
            <a:off x="731520" y="1371600"/>
            <a:ext cx="3364992" cy="38404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554480"/>
            <a:ext cx="731520" cy="73152"/>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2999232" cy="3383280"/>
          </a:xfrm>
          <a:prstGeom prst="rect">
            <a:avLst/>
          </a:prstGeom>
          <a:noFill/>
        </p:spPr>
        <p:txBody>
          <a:bodyPr wrap="square">
            <a:spAutoFit/>
          </a:bodyPr>
          <a:lstStyle/>
          <a:p>
            <a:pPr algn="l">
              <a:spcAft>
                <a:spcPts val="1000"/>
              </a:spcAft>
              <a:defRPr sz="1300" b="1">
                <a:solidFill>
                  <a:srgbClr val="FFFFFF"/>
                </a:solidFill>
                <a:latin typeface="Segoe UI"/>
              </a:defRPr>
            </a:pPr>
            <a:r>
              <a:t>1. Concurrency Safety Requires Isolation</a:t>
            </a:r>
          </a:p>
          <a:p>
            <a:pPr algn="l">
              <a:spcAft>
                <a:spcPts val="600"/>
              </a:spcAft>
              <a:defRPr sz="1000" b="0">
                <a:solidFill>
                  <a:srgbClr val="94A3B8"/>
                </a:solidFill>
                <a:latin typeface="Segoe UI"/>
              </a:defRPr>
            </a:pPr>
            <a:r>
              <a:t>• Application-level checks (`if available &gt;= qty`) fail catastrophically under multi-node concurrency.</a:t>
            </a:r>
          </a:p>
          <a:p>
            <a:pPr algn="l">
              <a:spcAft>
                <a:spcPts val="600"/>
              </a:spcAft>
              <a:defRPr sz="1000" b="0">
                <a:solidFill>
                  <a:srgbClr val="94A3B8"/>
                </a:solidFill>
                <a:latin typeface="Segoe UI"/>
              </a:defRPr>
            </a:pPr>
            <a:r>
              <a:t>• Database row-level locking (`SELECT ... FOR UPDATE`) is non-negotiable for finite inventory.</a:t>
            </a:r>
          </a:p>
          <a:p>
            <a:pPr algn="l">
              <a:spcAft>
                <a:spcPts val="600"/>
              </a:spcAft>
              <a:defRPr sz="1000" b="0">
                <a:solidFill>
                  <a:srgbClr val="94A3B8"/>
                </a:solidFill>
                <a:latin typeface="Segoe UI"/>
              </a:defRPr>
            </a:pPr>
            <a:r>
              <a:t>• SurgeShield guarantees mathematically zero overbooking regardless of traffic volume.</a:t>
            </a:r>
          </a:p>
        </p:txBody>
      </p:sp>
      <p:sp>
        <p:nvSpPr>
          <p:cNvPr id="9" name="Rounded Rectangle 8"/>
          <p:cNvSpPr/>
          <p:nvPr/>
        </p:nvSpPr>
        <p:spPr>
          <a:xfrm>
            <a:off x="4407407" y="1371600"/>
            <a:ext cx="3364992" cy="38404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90287" y="1554480"/>
            <a:ext cx="73152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7" y="1737360"/>
            <a:ext cx="2999232" cy="3383280"/>
          </a:xfrm>
          <a:prstGeom prst="rect">
            <a:avLst/>
          </a:prstGeom>
          <a:noFill/>
        </p:spPr>
        <p:txBody>
          <a:bodyPr wrap="square">
            <a:spAutoFit/>
          </a:bodyPr>
          <a:lstStyle/>
          <a:p>
            <a:pPr algn="l">
              <a:spcAft>
                <a:spcPts val="1000"/>
              </a:spcAft>
              <a:defRPr sz="1300" b="1">
                <a:solidFill>
                  <a:srgbClr val="FFFFFF"/>
                </a:solidFill>
                <a:latin typeface="Segoe UI"/>
              </a:defRPr>
            </a:pPr>
            <a:r>
              <a:t>2. Decoupling Is Key to Scalability</a:t>
            </a:r>
          </a:p>
          <a:p>
            <a:pPr algn="l">
              <a:spcAft>
                <a:spcPts val="600"/>
              </a:spcAft>
              <a:defRPr sz="1000" b="0">
                <a:solidFill>
                  <a:srgbClr val="94A3B8"/>
                </a:solidFill>
                <a:latin typeface="Segoe UI"/>
              </a:defRPr>
            </a:pPr>
            <a:r>
              <a:t>• Synchronous 3rd-party dependencies will destroy web server throughput during flash crowds.</a:t>
            </a:r>
          </a:p>
          <a:p>
            <a:pPr algn="l">
              <a:spcAft>
                <a:spcPts val="600"/>
              </a:spcAft>
              <a:defRPr sz="1000" b="0">
                <a:solidFill>
                  <a:srgbClr val="94A3B8"/>
                </a:solidFill>
                <a:latin typeface="Segoe UI"/>
              </a:defRPr>
            </a:pPr>
            <a:r>
              <a:t>• Separating the fast critical path (&lt;15ms) from background notification processing preserves availability.</a:t>
            </a:r>
          </a:p>
          <a:p>
            <a:pPr algn="l">
              <a:spcAft>
                <a:spcPts val="600"/>
              </a:spcAft>
              <a:defRPr sz="1000" b="0">
                <a:solidFill>
                  <a:srgbClr val="94A3B8"/>
                </a:solidFill>
                <a:latin typeface="Segoe UI"/>
              </a:defRPr>
            </a:pPr>
            <a:r>
              <a:t>• Queues act as shock absorbers, smoothing out extreme traffic spikes.</a:t>
            </a:r>
          </a:p>
        </p:txBody>
      </p:sp>
      <p:sp>
        <p:nvSpPr>
          <p:cNvPr id="12" name="Rounded Rectangle 11"/>
          <p:cNvSpPr/>
          <p:nvPr/>
        </p:nvSpPr>
        <p:spPr>
          <a:xfrm>
            <a:off x="8083296" y="1371600"/>
            <a:ext cx="3364992" cy="38404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66176" y="1554480"/>
            <a:ext cx="731520" cy="73152"/>
          </a:xfrm>
          <a:prstGeom prst="roundRect">
            <a:avLst/>
          </a:prstGeom>
          <a:solidFill>
            <a:srgbClr val="63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66176" y="1737360"/>
            <a:ext cx="2999232" cy="3383280"/>
          </a:xfrm>
          <a:prstGeom prst="rect">
            <a:avLst/>
          </a:prstGeom>
          <a:noFill/>
        </p:spPr>
        <p:txBody>
          <a:bodyPr wrap="square">
            <a:spAutoFit/>
          </a:bodyPr>
          <a:lstStyle/>
          <a:p>
            <a:pPr algn="l">
              <a:spcAft>
                <a:spcPts val="1000"/>
              </a:spcAft>
              <a:defRPr sz="1300" b="1">
                <a:solidFill>
                  <a:srgbClr val="FFFFFF"/>
                </a:solidFill>
                <a:latin typeface="Segoe UI"/>
              </a:defRPr>
            </a:pPr>
            <a:r>
              <a:t>3. Fault Tolerance Must Be Designed In</a:t>
            </a:r>
          </a:p>
          <a:p>
            <a:pPr algn="l">
              <a:spcAft>
                <a:spcPts val="600"/>
              </a:spcAft>
              <a:defRPr sz="1000" b="0">
                <a:solidFill>
                  <a:srgbClr val="94A3B8"/>
                </a:solidFill>
                <a:latin typeface="Segoe UI"/>
              </a:defRPr>
            </a:pPr>
            <a:r>
              <a:t>• Components will fail during high traffic: workers crash, connections drop, and users retry.</a:t>
            </a:r>
          </a:p>
          <a:p>
            <a:pPr algn="l">
              <a:spcAft>
                <a:spcPts val="600"/>
              </a:spcAft>
              <a:defRPr sz="1000" b="0">
                <a:solidFill>
                  <a:srgbClr val="94A3B8"/>
                </a:solidFill>
                <a:latin typeface="Segoe UI"/>
              </a:defRPr>
            </a:pPr>
            <a:r>
              <a:t>• Persistent queues, idempotent APIs, multi-node load balancing, and active health checks turn potential crashes into self-healing events.</a:t>
            </a:r>
          </a:p>
        </p:txBody>
      </p:sp>
      <p:sp>
        <p:nvSpPr>
          <p:cNvPr id="15" name="Rounded Rectangle 14"/>
          <p:cNvSpPr/>
          <p:nvPr/>
        </p:nvSpPr>
        <p:spPr>
          <a:xfrm>
            <a:off x="731520" y="5440680"/>
            <a:ext cx="10725912" cy="822960"/>
          </a:xfrm>
          <a:prstGeom prst="roundRect">
            <a:avLst/>
          </a:prstGeom>
          <a:solidFill>
            <a:srgbClr val="1E293B"/>
          </a:solidFill>
          <a:ln w="12700">
            <a:solidFill>
              <a:srgbClr val="635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486400"/>
            <a:ext cx="10360152" cy="731520"/>
          </a:xfrm>
          <a:prstGeom prst="rect">
            <a:avLst/>
          </a:prstGeom>
          <a:noFill/>
        </p:spPr>
        <p:txBody>
          <a:bodyPr wrap="square">
            <a:spAutoFit/>
          </a:bodyPr>
          <a:lstStyle/>
          <a:p>
            <a:pPr algn="ctr">
              <a:spcAft>
                <a:spcPts val="200"/>
              </a:spcAft>
              <a:defRPr sz="1400" b="1">
                <a:solidFill>
                  <a:srgbClr val="FFFFFF"/>
                </a:solidFill>
                <a:latin typeface="Segoe UI"/>
              </a:defRPr>
            </a:pPr>
            <a:r>
              <a:t>SurgeShield: Demonstrable Resilience Under Extreme Concurrency</a:t>
            </a:r>
          </a:p>
          <a:p>
            <a:pPr algn="ctr">
              <a:spcAft>
                <a:spcPts val="0"/>
              </a:spcAft>
              <a:defRPr sz="1100" b="0">
                <a:solidFill>
                  <a:srgbClr val="A5B4FC"/>
                </a:solidFill>
                <a:latin typeface="Segoe UI"/>
              </a:defRPr>
            </a:pPr>
            <a:r>
              <a:t>Thank You  |  Ready for Mentor Evaluation &amp; Architecture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